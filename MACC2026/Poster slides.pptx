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63" r:id="rId4"/>
    <p:sldId id="264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67202E3-078E-4036-8A42-987FDF149EFA}">
          <p14:sldIdLst>
            <p14:sldId id="256"/>
          </p14:sldIdLst>
        </p14:section>
        <p14:section name="Untitled Section" id="{35C6C5AD-982B-4ED4-A21A-506834B60E74}">
          <p14:sldIdLst>
            <p14:sldId id="258"/>
            <p14:sldId id="263"/>
            <p14:sldId id="264"/>
            <p14:sldId id="259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820472-F65E-1D86-F55C-CC1870215CD3}" name="Mhaskar, Prashant" initials="MP" userId="S::mhaskar@ads.mcmaster.ca::a7cfbb71-7305-4dab-874d-e20b51288e9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565"/>
    <a:srgbClr val="DAE3F3"/>
    <a:srgbClr val="203864"/>
    <a:srgbClr val="EEEEEE"/>
    <a:srgbClr val="EEE7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E17ADE-C00A-4D17-9442-1D71864890AE}" v="316" dt="2025-05-02T13:01:25.388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r Hossein Hamedi" userId="9576b8df-2b6a-463f-8b23-10c0f6833543" providerId="ADAL" clId="{B4E17ADE-C00A-4D17-9442-1D71864890AE}"/>
    <pc:docChg chg="undo custSel addSld delSld modSld modSection">
      <pc:chgData name="Amir Hossein Hamedi" userId="9576b8df-2b6a-463f-8b23-10c0f6833543" providerId="ADAL" clId="{B4E17ADE-C00A-4D17-9442-1D71864890AE}" dt="2025-05-02T13:01:25.388" v="3401" actId="1076"/>
      <pc:docMkLst>
        <pc:docMk/>
      </pc:docMkLst>
      <pc:sldChg chg="addSp delSp modSp mod">
        <pc:chgData name="Amir Hossein Hamedi" userId="9576b8df-2b6a-463f-8b23-10c0f6833543" providerId="ADAL" clId="{B4E17ADE-C00A-4D17-9442-1D71864890AE}" dt="2025-05-02T13:01:25.388" v="3401" actId="1076"/>
        <pc:sldMkLst>
          <pc:docMk/>
          <pc:sldMk cId="1636132168" sldId="256"/>
        </pc:sldMkLst>
        <pc:spChg chg="add mod">
          <ac:chgData name="Amir Hossein Hamedi" userId="9576b8df-2b6a-463f-8b23-10c0f6833543" providerId="ADAL" clId="{B4E17ADE-C00A-4D17-9442-1D71864890AE}" dt="2025-05-02T13:01:21.645" v="3400" actId="1076"/>
          <ac:spMkLst>
            <pc:docMk/>
            <pc:sldMk cId="1636132168" sldId="256"/>
            <ac:spMk id="3" creationId="{FDFA77C2-D3CE-16FD-F4FE-D19457DFF432}"/>
          </ac:spMkLst>
        </pc:spChg>
        <pc:spChg chg="add mod">
          <ac:chgData name="Amir Hossein Hamedi" userId="9576b8df-2b6a-463f-8b23-10c0f6833543" providerId="ADAL" clId="{B4E17ADE-C00A-4D17-9442-1D71864890AE}" dt="2025-05-02T13:01:25.388" v="3401" actId="1076"/>
          <ac:spMkLst>
            <pc:docMk/>
            <pc:sldMk cId="1636132168" sldId="256"/>
            <ac:spMk id="7" creationId="{289462D8-E37C-7E63-6D34-ACCA1B40A1EB}"/>
          </ac:spMkLst>
        </pc:spChg>
        <pc:spChg chg="add mod">
          <ac:chgData name="Amir Hossein Hamedi" userId="9576b8df-2b6a-463f-8b23-10c0f6833543" providerId="ADAL" clId="{B4E17ADE-C00A-4D17-9442-1D71864890AE}" dt="2025-05-01T16:20:45.368" v="3342" actId="1038"/>
          <ac:spMkLst>
            <pc:docMk/>
            <pc:sldMk cId="1636132168" sldId="256"/>
            <ac:spMk id="8" creationId="{3230E1CA-BE19-628C-027A-0C97E846F00D}"/>
          </ac:spMkLst>
        </pc:spChg>
        <pc:spChg chg="add mod">
          <ac:chgData name="Amir Hossein Hamedi" userId="9576b8df-2b6a-463f-8b23-10c0f6833543" providerId="ADAL" clId="{B4E17ADE-C00A-4D17-9442-1D71864890AE}" dt="2025-05-01T16:19:31.168" v="3300" actId="1076"/>
          <ac:spMkLst>
            <pc:docMk/>
            <pc:sldMk cId="1636132168" sldId="256"/>
            <ac:spMk id="19" creationId="{3876A863-9D02-5426-C629-13C5DB372719}"/>
          </ac:spMkLst>
        </pc:spChg>
        <pc:spChg chg="add mod">
          <ac:chgData name="Amir Hossein Hamedi" userId="9576b8df-2b6a-463f-8b23-10c0f6833543" providerId="ADAL" clId="{B4E17ADE-C00A-4D17-9442-1D71864890AE}" dt="2025-05-01T16:23:41.214" v="3397" actId="15"/>
          <ac:spMkLst>
            <pc:docMk/>
            <pc:sldMk cId="1636132168" sldId="256"/>
            <ac:spMk id="21" creationId="{569B0254-B6BC-979B-CF5B-B0DDAB9B4BF9}"/>
          </ac:spMkLst>
        </pc:spChg>
        <pc:graphicFrameChg chg="add mod modGraphic">
          <ac:chgData name="Amir Hossein Hamedi" userId="9576b8df-2b6a-463f-8b23-10c0f6833543" providerId="ADAL" clId="{B4E17ADE-C00A-4D17-9442-1D71864890AE}" dt="2025-05-02T13:01:16.455" v="3399" actId="1076"/>
          <ac:graphicFrameMkLst>
            <pc:docMk/>
            <pc:sldMk cId="1636132168" sldId="256"/>
            <ac:graphicFrameMk id="14" creationId="{62FC479B-43A6-B483-36F6-D00C16839AD9}"/>
          </ac:graphicFrameMkLst>
        </pc:graphicFrameChg>
      </pc:sldChg>
      <pc:sldChg chg="modSp mod">
        <pc:chgData name="Amir Hossein Hamedi" userId="9576b8df-2b6a-463f-8b23-10c0f6833543" providerId="ADAL" clId="{B4E17ADE-C00A-4D17-9442-1D71864890AE}" dt="2025-05-01T02:22:36.231" v="1509" actId="122"/>
        <pc:sldMkLst>
          <pc:docMk/>
          <pc:sldMk cId="995578253" sldId="258"/>
        </pc:sldMkLst>
        <pc:spChg chg="mod">
          <ac:chgData name="Amir Hossein Hamedi" userId="9576b8df-2b6a-463f-8b23-10c0f6833543" providerId="ADAL" clId="{B4E17ADE-C00A-4D17-9442-1D71864890AE}" dt="2025-05-01T02:22:36.231" v="1509" actId="122"/>
          <ac:spMkLst>
            <pc:docMk/>
            <pc:sldMk cId="995578253" sldId="258"/>
            <ac:spMk id="17" creationId="{BB288132-B154-EFA4-828B-A4E419D9A9FC}"/>
          </ac:spMkLst>
        </pc:spChg>
        <pc:spChg chg="mod">
          <ac:chgData name="Amir Hossein Hamedi" userId="9576b8df-2b6a-463f-8b23-10c0f6833543" providerId="ADAL" clId="{B4E17ADE-C00A-4D17-9442-1D71864890AE}" dt="2025-05-01T02:22:29.323" v="1507" actId="122"/>
          <ac:spMkLst>
            <pc:docMk/>
            <pc:sldMk cId="995578253" sldId="258"/>
            <ac:spMk id="19" creationId="{6EE5DA4A-563E-FA97-5A25-723C89C624DE}"/>
          </ac:spMkLst>
        </pc:spChg>
      </pc:sldChg>
      <pc:sldChg chg="addSp delSp modSp mod">
        <pc:chgData name="Amir Hossein Hamedi" userId="9576b8df-2b6a-463f-8b23-10c0f6833543" providerId="ADAL" clId="{B4E17ADE-C00A-4D17-9442-1D71864890AE}" dt="2025-05-01T04:57:20.653" v="2262" actId="1076"/>
        <pc:sldMkLst>
          <pc:docMk/>
          <pc:sldMk cId="3502143238" sldId="259"/>
        </pc:sldMkLst>
        <pc:spChg chg="mod">
          <ac:chgData name="Amir Hossein Hamedi" userId="9576b8df-2b6a-463f-8b23-10c0f6833543" providerId="ADAL" clId="{B4E17ADE-C00A-4D17-9442-1D71864890AE}" dt="2025-05-01T02:22:58.214" v="1513" actId="1076"/>
          <ac:spMkLst>
            <pc:docMk/>
            <pc:sldMk cId="3502143238" sldId="259"/>
            <ac:spMk id="2" creationId="{779B81F2-C7CC-A2F3-DB14-E93C0B55D1C2}"/>
          </ac:spMkLst>
        </pc:spChg>
        <pc:spChg chg="add mod">
          <ac:chgData name="Amir Hossein Hamedi" userId="9576b8df-2b6a-463f-8b23-10c0f6833543" providerId="ADAL" clId="{B4E17ADE-C00A-4D17-9442-1D71864890AE}" dt="2025-05-01T03:00:28.128" v="1670" actId="12789"/>
          <ac:spMkLst>
            <pc:docMk/>
            <pc:sldMk cId="3502143238" sldId="259"/>
            <ac:spMk id="5" creationId="{0B859F55-D2A8-4109-142F-8A8CBCA90DBD}"/>
          </ac:spMkLst>
        </pc:spChg>
        <pc:spChg chg="mod">
          <ac:chgData name="Amir Hossein Hamedi" userId="9576b8df-2b6a-463f-8b23-10c0f6833543" providerId="ADAL" clId="{B4E17ADE-C00A-4D17-9442-1D71864890AE}" dt="2025-05-01T02:22:10.668" v="1495" actId="1076"/>
          <ac:spMkLst>
            <pc:docMk/>
            <pc:sldMk cId="3502143238" sldId="259"/>
            <ac:spMk id="11" creationId="{4925CD69-47F3-9E7F-7DB2-1A30C2F2D544}"/>
          </ac:spMkLst>
        </pc:spChg>
        <pc:spChg chg="add mod">
          <ac:chgData name="Amir Hossein Hamedi" userId="9576b8df-2b6a-463f-8b23-10c0f6833543" providerId="ADAL" clId="{B4E17ADE-C00A-4D17-9442-1D71864890AE}" dt="2025-05-01T02:59:31.171" v="1667" actId="122"/>
          <ac:spMkLst>
            <pc:docMk/>
            <pc:sldMk cId="3502143238" sldId="259"/>
            <ac:spMk id="18" creationId="{C2FD1286-3F11-A9E9-4C8A-5DF8173FA906}"/>
          </ac:spMkLst>
        </pc:spChg>
        <pc:graphicFrameChg chg="add mod modGraphic">
          <ac:chgData name="Amir Hossein Hamedi" userId="9576b8df-2b6a-463f-8b23-10c0f6833543" providerId="ADAL" clId="{B4E17ADE-C00A-4D17-9442-1D71864890AE}" dt="2025-05-01T04:57:20.653" v="2262" actId="1076"/>
          <ac:graphicFrameMkLst>
            <pc:docMk/>
            <pc:sldMk cId="3502143238" sldId="259"/>
            <ac:graphicFrameMk id="24" creationId="{4D1C8EB2-5C54-BFF6-3A84-064207FACA67}"/>
          </ac:graphicFrameMkLst>
        </pc:graphicFrameChg>
        <pc:picChg chg="add mod">
          <ac:chgData name="Amir Hossein Hamedi" userId="9576b8df-2b6a-463f-8b23-10c0f6833543" providerId="ADAL" clId="{B4E17ADE-C00A-4D17-9442-1D71864890AE}" dt="2025-05-01T04:41:42.926" v="1881" actId="14100"/>
          <ac:picMkLst>
            <pc:docMk/>
            <pc:sldMk cId="3502143238" sldId="259"/>
            <ac:picMk id="23" creationId="{C68990DD-DEA3-E1F7-854F-538EA5FDE4FD}"/>
          </ac:picMkLst>
        </pc:picChg>
        <pc:cxnChg chg="add mod">
          <ac:chgData name="Amir Hossein Hamedi" userId="9576b8df-2b6a-463f-8b23-10c0f6833543" providerId="ADAL" clId="{B4E17ADE-C00A-4D17-9442-1D71864890AE}" dt="2025-05-01T02:58:48.411" v="1632" actId="14100"/>
          <ac:cxnSpMkLst>
            <pc:docMk/>
            <pc:sldMk cId="3502143238" sldId="259"/>
            <ac:cxnSpMk id="12" creationId="{B80DD191-EBE5-B36B-E9EA-0AAD2F3990E4}"/>
          </ac:cxnSpMkLst>
        </pc:cxnChg>
      </pc:sldChg>
      <pc:sldChg chg="addSp delSp modSp mod">
        <pc:chgData name="Amir Hossein Hamedi" userId="9576b8df-2b6a-463f-8b23-10c0f6833543" providerId="ADAL" clId="{B4E17ADE-C00A-4D17-9442-1D71864890AE}" dt="2025-05-01T15:46:19.876" v="3171" actId="20577"/>
        <pc:sldMkLst>
          <pc:docMk/>
          <pc:sldMk cId="1525091719" sldId="261"/>
        </pc:sldMkLst>
        <pc:spChg chg="mod">
          <ac:chgData name="Amir Hossein Hamedi" userId="9576b8df-2b6a-463f-8b23-10c0f6833543" providerId="ADAL" clId="{B4E17ADE-C00A-4D17-9442-1D71864890AE}" dt="2025-05-01T03:16:51.578" v="1868" actId="1076"/>
          <ac:spMkLst>
            <pc:docMk/>
            <pc:sldMk cId="1525091719" sldId="261"/>
            <ac:spMk id="11" creationId="{4925CD69-47F3-9E7F-7DB2-1A30C2F2D544}"/>
          </ac:spMkLst>
        </pc:spChg>
        <pc:spChg chg="add mod">
          <ac:chgData name="Amir Hossein Hamedi" userId="9576b8df-2b6a-463f-8b23-10c0f6833543" providerId="ADAL" clId="{B4E17ADE-C00A-4D17-9442-1D71864890AE}" dt="2025-05-01T05:03:11.953" v="2282" actId="20577"/>
          <ac:spMkLst>
            <pc:docMk/>
            <pc:sldMk cId="1525091719" sldId="261"/>
            <ac:spMk id="18" creationId="{E0269FB0-DE28-8379-90EF-7EBB1123F813}"/>
          </ac:spMkLst>
        </pc:spChg>
        <pc:spChg chg="add mod">
          <ac:chgData name="Amir Hossein Hamedi" userId="9576b8df-2b6a-463f-8b23-10c0f6833543" providerId="ADAL" clId="{B4E17ADE-C00A-4D17-9442-1D71864890AE}" dt="2025-05-01T05:09:04.443" v="2436" actId="404"/>
          <ac:spMkLst>
            <pc:docMk/>
            <pc:sldMk cId="1525091719" sldId="261"/>
            <ac:spMk id="27" creationId="{1320A7C8-6C35-EC96-7B3E-5957E72DC45F}"/>
          </ac:spMkLst>
        </pc:spChg>
        <pc:spChg chg="add mod">
          <ac:chgData name="Amir Hossein Hamedi" userId="9576b8df-2b6a-463f-8b23-10c0f6833543" providerId="ADAL" clId="{B4E17ADE-C00A-4D17-9442-1D71864890AE}" dt="2025-05-01T05:10:41.062" v="2529" actId="1036"/>
          <ac:spMkLst>
            <pc:docMk/>
            <pc:sldMk cId="1525091719" sldId="261"/>
            <ac:spMk id="29" creationId="{575820B2-BE55-ED33-F0F0-580C6A181884}"/>
          </ac:spMkLst>
        </pc:spChg>
        <pc:spChg chg="add mod">
          <ac:chgData name="Amir Hossein Hamedi" userId="9576b8df-2b6a-463f-8b23-10c0f6833543" providerId="ADAL" clId="{B4E17ADE-C00A-4D17-9442-1D71864890AE}" dt="2025-05-01T05:10:41.062" v="2529" actId="1036"/>
          <ac:spMkLst>
            <pc:docMk/>
            <pc:sldMk cId="1525091719" sldId="261"/>
            <ac:spMk id="30" creationId="{29F308F5-1A09-F369-7A98-A5A8F3065E47}"/>
          </ac:spMkLst>
        </pc:spChg>
        <pc:spChg chg="add mod">
          <ac:chgData name="Amir Hossein Hamedi" userId="9576b8df-2b6a-463f-8b23-10c0f6833543" providerId="ADAL" clId="{B4E17ADE-C00A-4D17-9442-1D71864890AE}" dt="2025-05-01T05:11:26.337" v="2551" actId="20577"/>
          <ac:spMkLst>
            <pc:docMk/>
            <pc:sldMk cId="1525091719" sldId="261"/>
            <ac:spMk id="31" creationId="{B4EB779B-D380-F248-3453-2B98DC0CCA1B}"/>
          </ac:spMkLst>
        </pc:spChg>
        <pc:spChg chg="add mod">
          <ac:chgData name="Amir Hossein Hamedi" userId="9576b8df-2b6a-463f-8b23-10c0f6833543" providerId="ADAL" clId="{B4E17ADE-C00A-4D17-9442-1D71864890AE}" dt="2025-05-01T15:46:19.876" v="3171" actId="20577"/>
          <ac:spMkLst>
            <pc:docMk/>
            <pc:sldMk cId="1525091719" sldId="261"/>
            <ac:spMk id="32" creationId="{363DBCD5-F771-3C33-91EC-86749096C858}"/>
          </ac:spMkLst>
        </pc:spChg>
        <pc:spChg chg="add mod">
          <ac:chgData name="Amir Hossein Hamedi" userId="9576b8df-2b6a-463f-8b23-10c0f6833543" providerId="ADAL" clId="{B4E17ADE-C00A-4D17-9442-1D71864890AE}" dt="2025-05-01T15:46:01.116" v="3141" actId="20577"/>
          <ac:spMkLst>
            <pc:docMk/>
            <pc:sldMk cId="1525091719" sldId="261"/>
            <ac:spMk id="33" creationId="{544B23D4-8B73-FB71-FE9B-E3C04378D6B0}"/>
          </ac:spMkLst>
        </pc:spChg>
        <pc:spChg chg="add mod">
          <ac:chgData name="Amir Hossein Hamedi" userId="9576b8df-2b6a-463f-8b23-10c0f6833543" providerId="ADAL" clId="{B4E17ADE-C00A-4D17-9442-1D71864890AE}" dt="2025-05-01T15:46:08.327" v="3143" actId="1076"/>
          <ac:spMkLst>
            <pc:docMk/>
            <pc:sldMk cId="1525091719" sldId="261"/>
            <ac:spMk id="34" creationId="{97E39467-3230-3DE5-5DC0-8EAE0CE92B28}"/>
          </ac:spMkLst>
        </pc:spChg>
        <pc:picChg chg="mod">
          <ac:chgData name="Amir Hossein Hamedi" userId="9576b8df-2b6a-463f-8b23-10c0f6833543" providerId="ADAL" clId="{B4E17ADE-C00A-4D17-9442-1D71864890AE}" dt="2025-05-01T05:05:10.119" v="2306" actId="1076"/>
          <ac:picMkLst>
            <pc:docMk/>
            <pc:sldMk cId="1525091719" sldId="261"/>
            <ac:picMk id="14" creationId="{04A0F604-0D5E-F234-3CD5-473E2F230452}"/>
          </ac:picMkLst>
        </pc:picChg>
        <pc:picChg chg="mod">
          <ac:chgData name="Amir Hossein Hamedi" userId="9576b8df-2b6a-463f-8b23-10c0f6833543" providerId="ADAL" clId="{B4E17ADE-C00A-4D17-9442-1D71864890AE}" dt="2025-05-01T05:05:10.119" v="2306" actId="1076"/>
          <ac:picMkLst>
            <pc:docMk/>
            <pc:sldMk cId="1525091719" sldId="261"/>
            <ac:picMk id="15" creationId="{0A4103D1-99FF-C0DF-11D5-69B787EF7CC8}"/>
          </ac:picMkLst>
        </pc:picChg>
        <pc:picChg chg="add mod">
          <ac:chgData name="Amir Hossein Hamedi" userId="9576b8df-2b6a-463f-8b23-10c0f6833543" providerId="ADAL" clId="{B4E17ADE-C00A-4D17-9442-1D71864890AE}" dt="2025-05-01T05:10:46.542" v="2530" actId="14100"/>
          <ac:picMkLst>
            <pc:docMk/>
            <pc:sldMk cId="1525091719" sldId="261"/>
            <ac:picMk id="17" creationId="{7283208C-5B5E-709B-0E43-9E1E7FDBBAE5}"/>
          </ac:picMkLst>
        </pc:picChg>
        <pc:picChg chg="add mod">
          <ac:chgData name="Amir Hossein Hamedi" userId="9576b8df-2b6a-463f-8b23-10c0f6833543" providerId="ADAL" clId="{B4E17ADE-C00A-4D17-9442-1D71864890AE}" dt="2025-05-01T05:10:41.062" v="2529" actId="1036"/>
          <ac:picMkLst>
            <pc:docMk/>
            <pc:sldMk cId="1525091719" sldId="261"/>
            <ac:picMk id="20" creationId="{EBB02F4A-3FBD-A52B-9FB1-33D25817F3BE}"/>
          </ac:picMkLst>
        </pc:picChg>
        <pc:picChg chg="add mod">
          <ac:chgData name="Amir Hossein Hamedi" userId="9576b8df-2b6a-463f-8b23-10c0f6833543" providerId="ADAL" clId="{B4E17ADE-C00A-4D17-9442-1D71864890AE}" dt="2025-05-01T05:10:41.062" v="2529" actId="1036"/>
          <ac:picMkLst>
            <pc:docMk/>
            <pc:sldMk cId="1525091719" sldId="261"/>
            <ac:picMk id="22" creationId="{9980C731-312B-0FB1-B20C-B3CF4DBD8A35}"/>
          </ac:picMkLst>
        </pc:picChg>
        <pc:picChg chg="add mod">
          <ac:chgData name="Amir Hossein Hamedi" userId="9576b8df-2b6a-463f-8b23-10c0f6833543" providerId="ADAL" clId="{B4E17ADE-C00A-4D17-9442-1D71864890AE}" dt="2025-05-01T05:10:41.062" v="2529" actId="1036"/>
          <ac:picMkLst>
            <pc:docMk/>
            <pc:sldMk cId="1525091719" sldId="261"/>
            <ac:picMk id="26" creationId="{C6D9E286-A579-F115-4097-3BCE0A553716}"/>
          </ac:picMkLst>
        </pc:picChg>
        <pc:cxnChg chg="add mod">
          <ac:chgData name="Amir Hossein Hamedi" userId="9576b8df-2b6a-463f-8b23-10c0f6833543" providerId="ADAL" clId="{B4E17ADE-C00A-4D17-9442-1D71864890AE}" dt="2025-05-01T05:04:48.950" v="2302" actId="14100"/>
          <ac:cxnSpMkLst>
            <pc:docMk/>
            <pc:sldMk cId="1525091719" sldId="261"/>
            <ac:cxnSpMk id="23" creationId="{87E37602-8A12-580E-A2F3-0E11B986D6F8}"/>
          </ac:cxnSpMkLst>
        </pc:cxnChg>
        <pc:cxnChg chg="add mod">
          <ac:chgData name="Amir Hossein Hamedi" userId="9576b8df-2b6a-463f-8b23-10c0f6833543" providerId="ADAL" clId="{B4E17ADE-C00A-4D17-9442-1D71864890AE}" dt="2025-05-01T05:08:29.987" v="2426"/>
          <ac:cxnSpMkLst>
            <pc:docMk/>
            <pc:sldMk cId="1525091719" sldId="261"/>
            <ac:cxnSpMk id="28" creationId="{5146DBE5-AE50-B3DA-C067-1D6C9B75984E}"/>
          </ac:cxnSpMkLst>
        </pc:cxnChg>
      </pc:sldChg>
      <pc:sldChg chg="addSp modSp mod">
        <pc:chgData name="Amir Hossein Hamedi" userId="9576b8df-2b6a-463f-8b23-10c0f6833543" providerId="ADAL" clId="{B4E17ADE-C00A-4D17-9442-1D71864890AE}" dt="2025-04-30T21:33:02.019" v="1023" actId="20577"/>
        <pc:sldMkLst>
          <pc:docMk/>
          <pc:sldMk cId="3330995576" sldId="263"/>
        </pc:sldMkLst>
        <pc:spChg chg="add mod">
          <ac:chgData name="Amir Hossein Hamedi" userId="9576b8df-2b6a-463f-8b23-10c0f6833543" providerId="ADAL" clId="{B4E17ADE-C00A-4D17-9442-1D71864890AE}" dt="2025-04-30T21:33:02.019" v="1023" actId="20577"/>
          <ac:spMkLst>
            <pc:docMk/>
            <pc:sldMk cId="3330995576" sldId="263"/>
            <ac:spMk id="6" creationId="{B0B7D93E-0420-528E-3039-463D70970C2C}"/>
          </ac:spMkLst>
        </pc:spChg>
        <pc:spChg chg="mod">
          <ac:chgData name="Amir Hossein Hamedi" userId="9576b8df-2b6a-463f-8b23-10c0f6833543" providerId="ADAL" clId="{B4E17ADE-C00A-4D17-9442-1D71864890AE}" dt="2025-04-30T21:25:25.940" v="489" actId="14100"/>
          <ac:spMkLst>
            <pc:docMk/>
            <pc:sldMk cId="3330995576" sldId="263"/>
            <ac:spMk id="25" creationId="{21F499D1-7E04-C94C-10AF-533F387F3D5A}"/>
          </ac:spMkLst>
        </pc:spChg>
      </pc:sldChg>
      <pc:sldChg chg="addSp delSp modSp mod">
        <pc:chgData name="Amir Hossein Hamedi" userId="9576b8df-2b6a-463f-8b23-10c0f6833543" providerId="ADAL" clId="{B4E17ADE-C00A-4D17-9442-1D71864890AE}" dt="2025-05-01T02:15:13.401" v="1426" actId="1076"/>
        <pc:sldMkLst>
          <pc:docMk/>
          <pc:sldMk cId="3925876928" sldId="264"/>
        </pc:sldMkLst>
        <pc:spChg chg="mod">
          <ac:chgData name="Amir Hossein Hamedi" userId="9576b8df-2b6a-463f-8b23-10c0f6833543" providerId="ADAL" clId="{B4E17ADE-C00A-4D17-9442-1D71864890AE}" dt="2025-04-30T21:36:36.067" v="1081" actId="404"/>
          <ac:spMkLst>
            <pc:docMk/>
            <pc:sldMk cId="3925876928" sldId="264"/>
            <ac:spMk id="2" creationId="{779B81F2-C7CC-A2F3-DB14-E93C0B55D1C2}"/>
          </ac:spMkLst>
        </pc:spChg>
        <pc:spChg chg="mod">
          <ac:chgData name="Amir Hossein Hamedi" userId="9576b8df-2b6a-463f-8b23-10c0f6833543" providerId="ADAL" clId="{B4E17ADE-C00A-4D17-9442-1D71864890AE}" dt="2025-04-30T22:19:22.011" v="1142" actId="1076"/>
          <ac:spMkLst>
            <pc:docMk/>
            <pc:sldMk cId="3925876928" sldId="264"/>
            <ac:spMk id="3" creationId="{9B570F84-A86F-6C3F-BF92-7ED4AB1FA9E9}"/>
          </ac:spMkLst>
        </pc:spChg>
        <pc:spChg chg="mod">
          <ac:chgData name="Amir Hossein Hamedi" userId="9576b8df-2b6a-463f-8b23-10c0f6833543" providerId="ADAL" clId="{B4E17ADE-C00A-4D17-9442-1D71864890AE}" dt="2025-04-30T21:33:35.918" v="1035" actId="1076"/>
          <ac:spMkLst>
            <pc:docMk/>
            <pc:sldMk cId="3925876928" sldId="264"/>
            <ac:spMk id="4" creationId="{B7BD5C36-1E5D-C7E1-9D24-D03DC93548B6}"/>
          </ac:spMkLst>
        </pc:spChg>
        <pc:spChg chg="mod">
          <ac:chgData name="Amir Hossein Hamedi" userId="9576b8df-2b6a-463f-8b23-10c0f6833543" providerId="ADAL" clId="{B4E17ADE-C00A-4D17-9442-1D71864890AE}" dt="2025-04-30T21:33:41.509" v="1036" actId="1076"/>
          <ac:spMkLst>
            <pc:docMk/>
            <pc:sldMk cId="3925876928" sldId="264"/>
            <ac:spMk id="11" creationId="{4925CD69-47F3-9E7F-7DB2-1A30C2F2D544}"/>
          </ac:spMkLst>
        </pc:spChg>
        <pc:spChg chg="add mod">
          <ac:chgData name="Amir Hossein Hamedi" userId="9576b8df-2b6a-463f-8b23-10c0f6833543" providerId="ADAL" clId="{B4E17ADE-C00A-4D17-9442-1D71864890AE}" dt="2025-04-30T22:19:40.666" v="1162" actId="20577"/>
          <ac:spMkLst>
            <pc:docMk/>
            <pc:sldMk cId="3925876928" sldId="264"/>
            <ac:spMk id="20" creationId="{40BC72C0-A369-1EF9-44FB-579D2414E205}"/>
          </ac:spMkLst>
        </pc:spChg>
        <pc:spChg chg="add mod">
          <ac:chgData name="Amir Hossein Hamedi" userId="9576b8df-2b6a-463f-8b23-10c0f6833543" providerId="ADAL" clId="{B4E17ADE-C00A-4D17-9442-1D71864890AE}" dt="2025-04-30T22:44:57.189" v="1226" actId="1036"/>
          <ac:spMkLst>
            <pc:docMk/>
            <pc:sldMk cId="3925876928" sldId="264"/>
            <ac:spMk id="25" creationId="{2C439F03-CE8D-C091-A690-7816F704577B}"/>
          </ac:spMkLst>
        </pc:spChg>
        <pc:spChg chg="add mod">
          <ac:chgData name="Amir Hossein Hamedi" userId="9576b8df-2b6a-463f-8b23-10c0f6833543" providerId="ADAL" clId="{B4E17ADE-C00A-4D17-9442-1D71864890AE}" dt="2025-05-01T02:12:14.753" v="1255" actId="404"/>
          <ac:spMkLst>
            <pc:docMk/>
            <pc:sldMk cId="3925876928" sldId="264"/>
            <ac:spMk id="34" creationId="{4176CF6C-3000-D55A-50B0-0FB3825A5845}"/>
          </ac:spMkLst>
        </pc:spChg>
        <pc:spChg chg="add mod">
          <ac:chgData name="Amir Hossein Hamedi" userId="9576b8df-2b6a-463f-8b23-10c0f6833543" providerId="ADAL" clId="{B4E17ADE-C00A-4D17-9442-1D71864890AE}" dt="2025-05-01T02:12:47.291" v="1262" actId="1076"/>
          <ac:spMkLst>
            <pc:docMk/>
            <pc:sldMk cId="3925876928" sldId="264"/>
            <ac:spMk id="35" creationId="{FDE2A4E2-5BBD-D12A-0286-E655EF016A4B}"/>
          </ac:spMkLst>
        </pc:spChg>
        <pc:spChg chg="add mod">
          <ac:chgData name="Amir Hossein Hamedi" userId="9576b8df-2b6a-463f-8b23-10c0f6833543" providerId="ADAL" clId="{B4E17ADE-C00A-4D17-9442-1D71864890AE}" dt="2025-05-01T02:13:00.164" v="1265" actId="20577"/>
          <ac:spMkLst>
            <pc:docMk/>
            <pc:sldMk cId="3925876928" sldId="264"/>
            <ac:spMk id="36" creationId="{FBE4FF5D-0345-95AF-834A-8C4CA138A03A}"/>
          </ac:spMkLst>
        </pc:spChg>
        <pc:spChg chg="add mod">
          <ac:chgData name="Amir Hossein Hamedi" userId="9576b8df-2b6a-463f-8b23-10c0f6833543" providerId="ADAL" clId="{B4E17ADE-C00A-4D17-9442-1D71864890AE}" dt="2025-05-01T02:14:32.589" v="1410" actId="404"/>
          <ac:spMkLst>
            <pc:docMk/>
            <pc:sldMk cId="3925876928" sldId="264"/>
            <ac:spMk id="37" creationId="{982981E4-36FC-2066-C03C-F83FAE7B17CD}"/>
          </ac:spMkLst>
        </pc:spChg>
        <pc:spChg chg="add mod">
          <ac:chgData name="Amir Hossein Hamedi" userId="9576b8df-2b6a-463f-8b23-10c0f6833543" providerId="ADAL" clId="{B4E17ADE-C00A-4D17-9442-1D71864890AE}" dt="2025-05-01T02:14:45.151" v="1412" actId="1076"/>
          <ac:spMkLst>
            <pc:docMk/>
            <pc:sldMk cId="3925876928" sldId="264"/>
            <ac:spMk id="38" creationId="{C368D476-A33B-E309-4BA4-E84B037AF419}"/>
          </ac:spMkLst>
        </pc:spChg>
        <pc:spChg chg="add mod">
          <ac:chgData name="Amir Hossein Hamedi" userId="9576b8df-2b6a-463f-8b23-10c0f6833543" providerId="ADAL" clId="{B4E17ADE-C00A-4D17-9442-1D71864890AE}" dt="2025-05-01T02:14:45.151" v="1412" actId="1076"/>
          <ac:spMkLst>
            <pc:docMk/>
            <pc:sldMk cId="3925876928" sldId="264"/>
            <ac:spMk id="39" creationId="{72316BF9-D3B3-DAEF-3105-B058C683DA5A}"/>
          </ac:spMkLst>
        </pc:spChg>
        <pc:spChg chg="add mod">
          <ac:chgData name="Amir Hossein Hamedi" userId="9576b8df-2b6a-463f-8b23-10c0f6833543" providerId="ADAL" clId="{B4E17ADE-C00A-4D17-9442-1D71864890AE}" dt="2025-05-01T02:14:45.151" v="1412" actId="1076"/>
          <ac:spMkLst>
            <pc:docMk/>
            <pc:sldMk cId="3925876928" sldId="264"/>
            <ac:spMk id="40" creationId="{3CA673E4-C47D-204A-0FD1-B64AE8ADD404}"/>
          </ac:spMkLst>
        </pc:spChg>
        <pc:spChg chg="add mod">
          <ac:chgData name="Amir Hossein Hamedi" userId="9576b8df-2b6a-463f-8b23-10c0f6833543" providerId="ADAL" clId="{B4E17ADE-C00A-4D17-9442-1D71864890AE}" dt="2025-05-01T02:15:13.401" v="1426" actId="1076"/>
          <ac:spMkLst>
            <pc:docMk/>
            <pc:sldMk cId="3925876928" sldId="264"/>
            <ac:spMk id="41" creationId="{86F12ECD-C7B3-FDB8-044C-006F97786B94}"/>
          </ac:spMkLst>
        </pc:spChg>
        <pc:picChg chg="add mod">
          <ac:chgData name="Amir Hossein Hamedi" userId="9576b8df-2b6a-463f-8b23-10c0f6833543" providerId="ADAL" clId="{B4E17ADE-C00A-4D17-9442-1D71864890AE}" dt="2025-04-30T22:17:05.819" v="1121" actId="14100"/>
          <ac:picMkLst>
            <pc:docMk/>
            <pc:sldMk cId="3925876928" sldId="264"/>
            <ac:picMk id="15" creationId="{E00CC079-6B53-CD43-D31B-38DA46F21E7C}"/>
          </ac:picMkLst>
        </pc:picChg>
        <pc:picChg chg="add mod">
          <ac:chgData name="Amir Hossein Hamedi" userId="9576b8df-2b6a-463f-8b23-10c0f6833543" providerId="ADAL" clId="{B4E17ADE-C00A-4D17-9442-1D71864890AE}" dt="2025-04-30T22:17:56.027" v="1132" actId="1076"/>
          <ac:picMkLst>
            <pc:docMk/>
            <pc:sldMk cId="3925876928" sldId="264"/>
            <ac:picMk id="17" creationId="{CD386A18-39B7-0A20-0550-40FF9005D83D}"/>
          </ac:picMkLst>
        </pc:picChg>
        <pc:picChg chg="add mod">
          <ac:chgData name="Amir Hossein Hamedi" userId="9576b8df-2b6a-463f-8b23-10c0f6833543" providerId="ADAL" clId="{B4E17ADE-C00A-4D17-9442-1D71864890AE}" dt="2025-05-01T02:12:16.378" v="1256" actId="1076"/>
          <ac:picMkLst>
            <pc:docMk/>
            <pc:sldMk cId="3925876928" sldId="264"/>
            <ac:picMk id="19" creationId="{A002BDAF-6E38-23E2-D749-CC71C47C3F11}"/>
          </ac:picMkLst>
        </pc:picChg>
        <pc:picChg chg="add mod">
          <ac:chgData name="Amir Hossein Hamedi" userId="9576b8df-2b6a-463f-8b23-10c0f6833543" providerId="ADAL" clId="{B4E17ADE-C00A-4D17-9442-1D71864890AE}" dt="2025-04-30T22:22:59.742" v="1171" actId="14100"/>
          <ac:picMkLst>
            <pc:docMk/>
            <pc:sldMk cId="3925876928" sldId="264"/>
            <ac:picMk id="22" creationId="{44F59C42-095A-DC26-4979-6629DC9FF65F}"/>
          </ac:picMkLst>
        </pc:picChg>
        <pc:picChg chg="add mod">
          <ac:chgData name="Amir Hossein Hamedi" userId="9576b8df-2b6a-463f-8b23-10c0f6833543" providerId="ADAL" clId="{B4E17ADE-C00A-4D17-9442-1D71864890AE}" dt="2025-05-01T00:34:00.774" v="1241" actId="14100"/>
          <ac:picMkLst>
            <pc:docMk/>
            <pc:sldMk cId="3925876928" sldId="264"/>
            <ac:picMk id="31" creationId="{8138098E-8DB9-FE08-78A2-1ECBDDCA3A75}"/>
          </ac:picMkLst>
        </pc:picChg>
        <pc:picChg chg="add mod">
          <ac:chgData name="Amir Hossein Hamedi" userId="9576b8df-2b6a-463f-8b23-10c0f6833543" providerId="ADAL" clId="{B4E17ADE-C00A-4D17-9442-1D71864890AE}" dt="2025-05-01T00:34:31.539" v="1248" actId="1076"/>
          <ac:picMkLst>
            <pc:docMk/>
            <pc:sldMk cId="3925876928" sldId="264"/>
            <ac:picMk id="33" creationId="{11DF5F84-02EF-E546-0282-F6E1182A7627}"/>
          </ac:picMkLst>
        </pc:picChg>
        <pc:cxnChg chg="add mod">
          <ac:chgData name="Amir Hossein Hamedi" userId="9576b8df-2b6a-463f-8b23-10c0f6833543" providerId="ADAL" clId="{B4E17ADE-C00A-4D17-9442-1D71864890AE}" dt="2025-04-30T21:36:48.071" v="1083" actId="14100"/>
          <ac:cxnSpMkLst>
            <pc:docMk/>
            <pc:sldMk cId="3925876928" sldId="264"/>
            <ac:cxnSpMk id="8" creationId="{4CECC1F9-AEBA-7D38-4F0D-6EBC32BD0617}"/>
          </ac:cxnSpMkLst>
        </pc:cxnChg>
        <pc:cxnChg chg="add mod ord">
          <ac:chgData name="Amir Hossein Hamedi" userId="9576b8df-2b6a-463f-8b23-10c0f6833543" providerId="ADAL" clId="{B4E17ADE-C00A-4D17-9442-1D71864890AE}" dt="2025-05-01T02:06:23.757" v="1249" actId="208"/>
          <ac:cxnSpMkLst>
            <pc:docMk/>
            <pc:sldMk cId="3925876928" sldId="264"/>
            <ac:cxnSpMk id="24" creationId="{43F022B7-DF33-DD72-B39F-711E69B4E9BE}"/>
          </ac:cxnSpMkLst>
        </pc:cxnChg>
      </pc:sldChg>
      <pc:sldChg chg="addSp delSp modSp new del mod">
        <pc:chgData name="Amir Hossein Hamedi" userId="9576b8df-2b6a-463f-8b23-10c0f6833543" providerId="ADAL" clId="{B4E17ADE-C00A-4D17-9442-1D71864890AE}" dt="2025-05-01T05:00:46.653" v="2263" actId="47"/>
        <pc:sldMkLst>
          <pc:docMk/>
          <pc:sldMk cId="4148219983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15FEA-E3B0-4740-86A9-ED903A89A996}" type="datetimeFigureOut">
              <a:rPr lang="en-CA" smtClean="0"/>
              <a:t>2025-05-08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A985-FE93-4FC3-9653-D2B97F8E4ED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1492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15FEA-E3B0-4740-86A9-ED903A89A996}" type="datetimeFigureOut">
              <a:rPr lang="en-CA" smtClean="0"/>
              <a:t>2025-05-08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A985-FE93-4FC3-9653-D2B97F8E4ED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11537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15FEA-E3B0-4740-86A9-ED903A89A996}" type="datetimeFigureOut">
              <a:rPr lang="en-CA" smtClean="0"/>
              <a:t>2025-05-08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A985-FE93-4FC3-9653-D2B97F8E4ED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6582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15FEA-E3B0-4740-86A9-ED903A89A996}" type="datetimeFigureOut">
              <a:rPr lang="en-CA" smtClean="0"/>
              <a:t>2025-05-08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A985-FE93-4FC3-9653-D2B97F8E4ED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9614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15FEA-E3B0-4740-86A9-ED903A89A996}" type="datetimeFigureOut">
              <a:rPr lang="en-CA" smtClean="0"/>
              <a:t>2025-05-08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A985-FE93-4FC3-9653-D2B97F8E4ED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754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15FEA-E3B0-4740-86A9-ED903A89A996}" type="datetimeFigureOut">
              <a:rPr lang="en-CA" smtClean="0"/>
              <a:t>2025-05-08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A985-FE93-4FC3-9653-D2B97F8E4ED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68422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15FEA-E3B0-4740-86A9-ED903A89A996}" type="datetimeFigureOut">
              <a:rPr lang="en-CA" smtClean="0"/>
              <a:t>2025-05-08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A985-FE93-4FC3-9653-D2B97F8E4ED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8028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15FEA-E3B0-4740-86A9-ED903A89A996}" type="datetimeFigureOut">
              <a:rPr lang="en-CA" smtClean="0"/>
              <a:t>2025-05-08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A985-FE93-4FC3-9653-D2B97F8E4ED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8758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15FEA-E3B0-4740-86A9-ED903A89A996}" type="datetimeFigureOut">
              <a:rPr lang="en-CA" smtClean="0"/>
              <a:t>2025-05-08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A985-FE93-4FC3-9653-D2B97F8E4ED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8664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15FEA-E3B0-4740-86A9-ED903A89A996}" type="datetimeFigureOut">
              <a:rPr lang="en-CA" smtClean="0"/>
              <a:t>2025-05-08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A985-FE93-4FC3-9653-D2B97F8E4ED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2129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15FEA-E3B0-4740-86A9-ED903A89A996}" type="datetimeFigureOut">
              <a:rPr lang="en-CA" smtClean="0"/>
              <a:t>2025-05-08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A985-FE93-4FC3-9653-D2B97F8E4ED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11800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C15FEA-E3B0-4740-86A9-ED903A89A996}" type="datetimeFigureOut">
              <a:rPr lang="en-CA" smtClean="0"/>
              <a:t>2025-05-08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A1A985-FE93-4FC3-9653-D2B97F8E4ED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5786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19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B81F2-C7CC-A2F3-DB14-E93C0B55D1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4470"/>
            <a:ext cx="10640514" cy="723900"/>
          </a:xfrm>
          <a:solidFill>
            <a:srgbClr val="EEEEEE"/>
          </a:solidFill>
        </p:spPr>
        <p:txBody>
          <a:bodyPr anchor="ctr">
            <a:noAutofit/>
          </a:bodyPr>
          <a:lstStyle/>
          <a:p>
            <a:r>
              <a:rPr lang="en-CA" sz="2800" b="1"/>
              <a:t>Hybrid Approach for Control and Fault Detection for Large Scale systems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BD5C36-1E5D-C7E1-9D24-D03DC93548B6}"/>
              </a:ext>
            </a:extLst>
          </p:cNvPr>
          <p:cNvSpPr/>
          <p:nvPr/>
        </p:nvSpPr>
        <p:spPr>
          <a:xfrm>
            <a:off x="0" y="0"/>
            <a:ext cx="12192000" cy="301797"/>
          </a:xfrm>
          <a:prstGeom prst="rect">
            <a:avLst/>
          </a:prstGeom>
          <a:solidFill>
            <a:srgbClr val="203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689501-4B57-857B-805A-E82E50C58143}"/>
              </a:ext>
            </a:extLst>
          </p:cNvPr>
          <p:cNvSpPr/>
          <p:nvPr/>
        </p:nvSpPr>
        <p:spPr>
          <a:xfrm>
            <a:off x="0" y="6556203"/>
            <a:ext cx="6096000" cy="301797"/>
          </a:xfrm>
          <a:prstGeom prst="rect">
            <a:avLst/>
          </a:prstGeom>
          <a:solidFill>
            <a:srgbClr val="203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6D5EE5-99AF-7DC9-573D-BCF1A25DEAEC}"/>
              </a:ext>
            </a:extLst>
          </p:cNvPr>
          <p:cNvSpPr/>
          <p:nvPr/>
        </p:nvSpPr>
        <p:spPr>
          <a:xfrm>
            <a:off x="6096000" y="6556203"/>
            <a:ext cx="6096000" cy="30179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25CD69-47F3-9E7F-7DB2-1A30C2F2D544}"/>
              </a:ext>
            </a:extLst>
          </p:cNvPr>
          <p:cNvSpPr txBox="1"/>
          <p:nvPr/>
        </p:nvSpPr>
        <p:spPr>
          <a:xfrm>
            <a:off x="0" y="6519446"/>
            <a:ext cx="46863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>
                <a:solidFill>
                  <a:schemeClr val="bg1"/>
                </a:solidFill>
              </a:rPr>
              <a:t>Amir Hossein Hamedi Supervisor: Dr. Mhaskar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AB6F99-0279-92F2-60B1-78F37DEB3D75}"/>
              </a:ext>
            </a:extLst>
          </p:cNvPr>
          <p:cNvSpPr txBox="1"/>
          <p:nvPr/>
        </p:nvSpPr>
        <p:spPr>
          <a:xfrm>
            <a:off x="9626600" y="6537824"/>
            <a:ext cx="2565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/>
              <a:t>MACC Annual Meeting 2025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F22D348-D58B-C370-AD00-14805CC27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0513" y="320177"/>
            <a:ext cx="1551487" cy="7181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FA77C2-D3CE-16FD-F4FE-D19457DFF432}"/>
              </a:ext>
            </a:extLst>
          </p:cNvPr>
          <p:cNvSpPr txBox="1"/>
          <p:nvPr/>
        </p:nvSpPr>
        <p:spPr>
          <a:xfrm>
            <a:off x="47499" y="1087803"/>
            <a:ext cx="2881745" cy="408623"/>
          </a:xfrm>
          <a:prstGeom prst="roundRect">
            <a:avLst/>
          </a:prstGeom>
          <a:solidFill>
            <a:srgbClr val="FF6565"/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en-CA" sz="1800" dirty="0"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Problem Definition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9462D8-E37C-7E63-6D34-ACCA1B40A1EB}"/>
              </a:ext>
            </a:extLst>
          </p:cNvPr>
          <p:cNvSpPr txBox="1"/>
          <p:nvPr/>
        </p:nvSpPr>
        <p:spPr>
          <a:xfrm>
            <a:off x="47499" y="1551503"/>
            <a:ext cx="2881745" cy="39703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Chemical processes must </a:t>
            </a:r>
            <a:r>
              <a:rPr lang="en-US" b="1"/>
              <a:t>ensure product quality, plant safety, and economic efficiency</a:t>
            </a:r>
            <a:r>
              <a:rPr lang="en-US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However, they are </a:t>
            </a:r>
            <a:r>
              <a:rPr lang="en-US" b="1"/>
              <a:t>prone to faults</a:t>
            </a:r>
            <a:r>
              <a:rPr lang="en-US"/>
              <a:t>, which can lead to </a:t>
            </a:r>
            <a:r>
              <a:rPr lang="en-US" b="1"/>
              <a:t>asset damage, unsafe operation, or plant shutdowns</a:t>
            </a:r>
            <a:r>
              <a:rPr lang="en-US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 robust controller is </a:t>
            </a:r>
            <a:r>
              <a:rPr lang="en-US" b="1"/>
              <a:t>essential</a:t>
            </a:r>
            <a:r>
              <a:rPr lang="en-US"/>
              <a:t> to handle disturbances and maintain system stability,  </a:t>
            </a:r>
            <a:r>
              <a:rPr lang="en-US" b="1"/>
              <a:t>before</a:t>
            </a:r>
            <a:r>
              <a:rPr lang="en-US"/>
              <a:t> things go wrong.</a:t>
            </a:r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30E1CA-BE19-628C-027A-0C97E846F00D}"/>
              </a:ext>
            </a:extLst>
          </p:cNvPr>
          <p:cNvSpPr txBox="1"/>
          <p:nvPr/>
        </p:nvSpPr>
        <p:spPr>
          <a:xfrm>
            <a:off x="3137061" y="1087956"/>
            <a:ext cx="3782292" cy="40862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CA"/>
              <a:t>Common Approaches &amp; Challenges</a:t>
            </a:r>
            <a:endParaRPr lang="en-CA" sz="1800">
              <a:effectLst/>
              <a:latin typeface="Segoe UI" panose="020B0502040204020203" pitchFamily="34" charset="0"/>
              <a:ea typeface="Calibri" panose="020F0502020204030204" pitchFamily="34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2FC479B-43A6-B483-36F6-D00C16839A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355970"/>
              </p:ext>
            </p:extLst>
          </p:nvPr>
        </p:nvGraphicFramePr>
        <p:xfrm>
          <a:off x="3137061" y="1557353"/>
          <a:ext cx="3782293" cy="467938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900546">
                  <a:extLst>
                    <a:ext uri="{9D8B030D-6E8A-4147-A177-3AD203B41FA5}">
                      <a16:colId xmlns:a16="http://schemas.microsoft.com/office/drawing/2014/main" val="1955824945"/>
                    </a:ext>
                  </a:extLst>
                </a:gridCol>
                <a:gridCol w="1290459">
                  <a:extLst>
                    <a:ext uri="{9D8B030D-6E8A-4147-A177-3AD203B41FA5}">
                      <a16:colId xmlns:a16="http://schemas.microsoft.com/office/drawing/2014/main" val="2621192364"/>
                    </a:ext>
                  </a:extLst>
                </a:gridCol>
                <a:gridCol w="1591288">
                  <a:extLst>
                    <a:ext uri="{9D8B030D-6E8A-4147-A177-3AD203B41FA5}">
                      <a16:colId xmlns:a16="http://schemas.microsoft.com/office/drawing/2014/main" val="3109885769"/>
                    </a:ext>
                  </a:extLst>
                </a:gridCol>
              </a:tblGrid>
              <a:tr h="564181">
                <a:tc>
                  <a:txBody>
                    <a:bodyPr/>
                    <a:lstStyle/>
                    <a:p>
                      <a:r>
                        <a:rPr lang="en-CA" sz="1200" b="1"/>
                        <a:t>Approach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400" b="1"/>
                        <a:t>Strengths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400" b="1"/>
                        <a:t>Limitations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603416"/>
                  </a:ext>
                </a:extLst>
              </a:tr>
              <a:tr h="796490">
                <a:tc>
                  <a:txBody>
                    <a:bodyPr/>
                    <a:lstStyle/>
                    <a:p>
                      <a:r>
                        <a:rPr lang="en-CA" sz="1200" b="1"/>
                        <a:t>PID Control</a:t>
                      </a:r>
                      <a:endParaRPr lang="en-CA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Simple, widely used in industry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Poor for MIMO/nonlinear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473216"/>
                  </a:ext>
                </a:extLst>
              </a:tr>
              <a:tr h="1493419">
                <a:tc>
                  <a:txBody>
                    <a:bodyPr/>
                    <a:lstStyle/>
                    <a:p>
                      <a:r>
                        <a:rPr lang="en-CA" sz="1200" b="1"/>
                        <a:t>Linear MPC</a:t>
                      </a:r>
                      <a:endParaRPr lang="en-CA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400"/>
                        <a:t>Fast, convex optimization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Breaks under </a:t>
                      </a:r>
                      <a:r>
                        <a:rPr lang="en-US" sz="1400" b="1"/>
                        <a:t>nonlinear dynamics</a:t>
                      </a:r>
                      <a:r>
                        <a:rPr lang="en-US" sz="1400"/>
                        <a:t>, </a:t>
                      </a:r>
                      <a:r>
                        <a:rPr lang="en-US" sz="1400" b="1"/>
                        <a:t>unmeasured disturbances</a:t>
                      </a:r>
                      <a:r>
                        <a:rPr lang="en-US" sz="1400"/>
                        <a:t>, or faults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336051"/>
                  </a:ext>
                </a:extLst>
              </a:tr>
              <a:tr h="796490">
                <a:tc>
                  <a:txBody>
                    <a:bodyPr/>
                    <a:lstStyle/>
                    <a:p>
                      <a:r>
                        <a:rPr lang="en-CA" sz="1200" b="1"/>
                        <a:t>Nonlinear MPC</a:t>
                      </a:r>
                      <a:endParaRPr lang="en-CA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400"/>
                        <a:t>Handles nonlinearities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400" b="1"/>
                        <a:t>Computationally intensive</a:t>
                      </a:r>
                      <a:r>
                        <a:rPr lang="en-CA" sz="1400"/>
                        <a:t>, convergence issues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110306"/>
                  </a:ext>
                </a:extLst>
              </a:tr>
              <a:tr h="1028800">
                <a:tc>
                  <a:txBody>
                    <a:bodyPr/>
                    <a:lstStyle/>
                    <a:p>
                      <a:r>
                        <a:rPr lang="en-CA" sz="1200" b="1"/>
                        <a:t>Fault Detection</a:t>
                      </a:r>
                      <a:endParaRPr lang="en-CA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Can detect after it happens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But not </a:t>
                      </a:r>
                      <a:r>
                        <a:rPr lang="en-US" sz="1400" b="1"/>
                        <a:t>early enough</a:t>
                      </a:r>
                      <a:r>
                        <a:rPr lang="en-US" sz="1400"/>
                        <a:t> to make proactive control decisions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58727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3876A863-9D02-5426-C629-13C5DB372719}"/>
              </a:ext>
            </a:extLst>
          </p:cNvPr>
          <p:cNvSpPr txBox="1"/>
          <p:nvPr/>
        </p:nvSpPr>
        <p:spPr>
          <a:xfrm>
            <a:off x="7233722" y="1087956"/>
            <a:ext cx="4785756" cy="40862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CA" sz="1800"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Proposed Approach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9B0254-B6BC-979B-CF5B-B0DDAB9B4BF9}"/>
              </a:ext>
            </a:extLst>
          </p:cNvPr>
          <p:cNvSpPr txBox="1"/>
          <p:nvPr/>
        </p:nvSpPr>
        <p:spPr>
          <a:xfrm>
            <a:off x="7233722" y="1557353"/>
            <a:ext cx="4785756" cy="44012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Safe RL Implementation: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/>
              <a:t>RL learns from </a:t>
            </a:r>
            <a:r>
              <a:rPr lang="en-US" sz="2000" b="1"/>
              <a:t>MPC-generated actions</a:t>
            </a:r>
            <a:r>
              <a:rPr lang="en-US" sz="2000"/>
              <a:t> → </a:t>
            </a:r>
            <a:r>
              <a:rPr lang="en-US" sz="2000" b="1"/>
              <a:t>safe</a:t>
            </a:r>
            <a:r>
              <a:rPr lang="en-US" sz="2000"/>
              <a:t> and </a:t>
            </a:r>
            <a:r>
              <a:rPr lang="en-US" sz="2000" b="1"/>
              <a:t>guided</a:t>
            </a:r>
            <a:r>
              <a:rPr lang="en-US" sz="2000"/>
              <a:t> exploration.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/>
              <a:t>Reduces the risk of unsafe behavior in industrial deployment.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000"/>
              <a:t>Hybrid Fault Detection, </a:t>
            </a:r>
            <a:r>
              <a:rPr lang="en-US" sz="2000"/>
              <a:t>Using </a:t>
            </a:r>
            <a:r>
              <a:rPr lang="en-US" sz="2000" b="1"/>
              <a:t>first-principles hydraulic models</a:t>
            </a:r>
            <a:r>
              <a:rPr lang="en-US" sz="2000"/>
              <a:t> + </a:t>
            </a:r>
            <a:r>
              <a:rPr lang="en-US" sz="2000" b="1"/>
              <a:t>data-driven: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2000"/>
              <a:t>Estimate </a:t>
            </a:r>
            <a:r>
              <a:rPr lang="en-CA" sz="2000" b="1"/>
              <a:t>unmeasurable internal states</a:t>
            </a:r>
            <a:endParaRPr lang="en-US" sz="2000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/>
              <a:t>Detect </a:t>
            </a:r>
            <a:r>
              <a:rPr lang="en-US" sz="2000" b="1"/>
              <a:t>early signs of flooding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/>
              <a:t>Allow </a:t>
            </a:r>
            <a:r>
              <a:rPr lang="en-US" sz="2000" b="1"/>
              <a:t>proactive control action</a:t>
            </a:r>
            <a:r>
              <a:rPr lang="en-US" sz="2000"/>
              <a:t> before faults escalate</a:t>
            </a:r>
            <a:endParaRPr lang="en-CA" sz="2000"/>
          </a:p>
        </p:txBody>
      </p:sp>
    </p:spTree>
    <p:extLst>
      <p:ext uri="{BB962C8B-B14F-4D97-AF65-F5344CB8AC3E}">
        <p14:creationId xmlns:p14="http://schemas.microsoft.com/office/powerpoint/2010/main" val="1636132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BD5C36-1E5D-C7E1-9D24-D03DC93548B6}"/>
              </a:ext>
            </a:extLst>
          </p:cNvPr>
          <p:cNvSpPr/>
          <p:nvPr/>
        </p:nvSpPr>
        <p:spPr>
          <a:xfrm>
            <a:off x="0" y="0"/>
            <a:ext cx="12192000" cy="301797"/>
          </a:xfrm>
          <a:prstGeom prst="rect">
            <a:avLst/>
          </a:prstGeom>
          <a:solidFill>
            <a:srgbClr val="203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689501-4B57-857B-805A-E82E50C58143}"/>
              </a:ext>
            </a:extLst>
          </p:cNvPr>
          <p:cNvSpPr/>
          <p:nvPr/>
        </p:nvSpPr>
        <p:spPr>
          <a:xfrm>
            <a:off x="0" y="6556203"/>
            <a:ext cx="6096000" cy="301797"/>
          </a:xfrm>
          <a:prstGeom prst="rect">
            <a:avLst/>
          </a:prstGeom>
          <a:solidFill>
            <a:srgbClr val="203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6D5EE5-99AF-7DC9-573D-BCF1A25DEAEC}"/>
              </a:ext>
            </a:extLst>
          </p:cNvPr>
          <p:cNvSpPr/>
          <p:nvPr/>
        </p:nvSpPr>
        <p:spPr>
          <a:xfrm>
            <a:off x="6096000" y="6556203"/>
            <a:ext cx="6096000" cy="30179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25CD69-47F3-9E7F-7DB2-1A30C2F2D544}"/>
              </a:ext>
            </a:extLst>
          </p:cNvPr>
          <p:cNvSpPr txBox="1"/>
          <p:nvPr/>
        </p:nvSpPr>
        <p:spPr>
          <a:xfrm>
            <a:off x="5367138" y="-18378"/>
            <a:ext cx="14577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>
                <a:solidFill>
                  <a:schemeClr val="bg1"/>
                </a:solidFill>
              </a:rPr>
              <a:t>Case Studies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AB6F99-0279-92F2-60B1-78F37DEB3D75}"/>
              </a:ext>
            </a:extLst>
          </p:cNvPr>
          <p:cNvSpPr txBox="1"/>
          <p:nvPr/>
        </p:nvSpPr>
        <p:spPr>
          <a:xfrm>
            <a:off x="9626600" y="6537824"/>
            <a:ext cx="2565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/>
              <a:t>MACC Annual Meeting 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611581-4F6C-685F-4C67-45FB5C1C68B7}"/>
              </a:ext>
            </a:extLst>
          </p:cNvPr>
          <p:cNvSpPr txBox="1"/>
          <p:nvPr/>
        </p:nvSpPr>
        <p:spPr>
          <a:xfrm>
            <a:off x="0" y="6535092"/>
            <a:ext cx="46863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>
                <a:solidFill>
                  <a:schemeClr val="bg1"/>
                </a:solidFill>
              </a:rPr>
              <a:t>Amir Hossein Hamedi Supervisor: Dr. Mhaskar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D006E11-9E5C-A24D-AE53-734F82D26A0A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6096000" y="320176"/>
            <a:ext cx="0" cy="6236027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8" name="Picture 7" descr="A diagram of a number&#10;&#10;AI-generated content may be incorrect.">
            <a:extLst>
              <a:ext uri="{FF2B5EF4-FFF2-40B4-BE49-F238E27FC236}">
                <a16:creationId xmlns:a16="http://schemas.microsoft.com/office/drawing/2014/main" id="{470C29D9-B801-76E3-F9B8-976C305041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50" y="850405"/>
            <a:ext cx="3643253" cy="3246582"/>
          </a:xfrm>
          <a:prstGeom prst="rect">
            <a:avLst/>
          </a:prstGeom>
        </p:spPr>
      </p:pic>
      <p:pic>
        <p:nvPicPr>
          <p:cNvPr id="16" name="Picture 15" descr="Diagram of a diagram of a liquid flow&#10;&#10;AI-generated content may be incorrect.">
            <a:extLst>
              <a:ext uri="{FF2B5EF4-FFF2-40B4-BE49-F238E27FC236}">
                <a16:creationId xmlns:a16="http://schemas.microsoft.com/office/drawing/2014/main" id="{9B4479F8-29FC-4083-05B2-4F30F7523C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854" y="948167"/>
            <a:ext cx="3854799" cy="221067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B288132-B154-EFA4-828B-A4E419D9A9FC}"/>
              </a:ext>
            </a:extLst>
          </p:cNvPr>
          <p:cNvSpPr txBox="1"/>
          <p:nvPr/>
        </p:nvSpPr>
        <p:spPr>
          <a:xfrm>
            <a:off x="156851" y="420671"/>
            <a:ext cx="5792687" cy="408623"/>
          </a:xfrm>
          <a:prstGeom prst="roundRect">
            <a:avLst/>
          </a:prstGeom>
          <a:solidFill>
            <a:srgbClr val="DAE3F3"/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en-US" sz="1800"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Ethylene Splitter (C</a:t>
            </a:r>
            <a:r>
              <a:rPr lang="en-US" sz="1800" baseline="-25000"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2</a:t>
            </a:r>
            <a:r>
              <a:rPr lang="en-US" sz="1800"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S)</a:t>
            </a:r>
            <a:endParaRPr lang="en-CA" sz="1800">
              <a:effectLst/>
              <a:latin typeface="Segoe UI" panose="020B0502040204020203" pitchFamily="34" charset="0"/>
              <a:ea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E5DA4A-563E-FA97-5A25-723C89C624DE}"/>
              </a:ext>
            </a:extLst>
          </p:cNvPr>
          <p:cNvSpPr txBox="1"/>
          <p:nvPr/>
        </p:nvSpPr>
        <p:spPr>
          <a:xfrm>
            <a:off x="6174853" y="420670"/>
            <a:ext cx="5860291" cy="408623"/>
          </a:xfrm>
          <a:prstGeom prst="roundRect">
            <a:avLst/>
          </a:prstGeom>
          <a:solidFill>
            <a:srgbClr val="DAE3F3"/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en-US" sz="1800"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Continuous Styrene Polymerization Reactor</a:t>
            </a:r>
            <a:endParaRPr lang="en-CA" sz="1800">
              <a:effectLst/>
              <a:latin typeface="Segoe UI" panose="020B0502040204020203" pitchFamily="34" charset="0"/>
              <a:ea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Content Placeholder 3">
                <a:extLst>
                  <a:ext uri="{FF2B5EF4-FFF2-40B4-BE49-F238E27FC236}">
                    <a16:creationId xmlns:a16="http://schemas.microsoft.com/office/drawing/2014/main" id="{DE1F126D-AD6B-D705-9B5C-4B1C85A2869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229163204"/>
                  </p:ext>
                </p:extLst>
              </p:nvPr>
            </p:nvGraphicFramePr>
            <p:xfrm>
              <a:off x="7177170" y="3258937"/>
              <a:ext cx="3933660" cy="3261061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2497094">
                      <a:extLst>
                        <a:ext uri="{9D8B030D-6E8A-4147-A177-3AD203B41FA5}">
                          <a16:colId xmlns:a16="http://schemas.microsoft.com/office/drawing/2014/main" val="3259215856"/>
                        </a:ext>
                      </a:extLst>
                    </a:gridCol>
                    <a:gridCol w="1436566">
                      <a:extLst>
                        <a:ext uri="{9D8B030D-6E8A-4147-A177-3AD203B41FA5}">
                          <a16:colId xmlns:a16="http://schemas.microsoft.com/office/drawing/2014/main" val="3590772187"/>
                        </a:ext>
                      </a:extLst>
                    </a:gridCol>
                  </a:tblGrid>
                  <a:tr h="3261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/>
                            <a:t>Governing Equations</a:t>
                          </a:r>
                          <a:endParaRPr lang="en-CA" sz="70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/>
                            <a:t>Reactions</a:t>
                          </a:r>
                          <a:endParaRPr lang="en-CA" sz="7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529206599"/>
                      </a:ext>
                    </a:extLst>
                  </a:tr>
                  <a:tr h="393976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CA" sz="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836967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CA" sz="700" b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kumimoji="0" lang="en-CA" sz="7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836967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CA" sz="700" b="0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kumimoji="0" lang="en-CA" sz="700" b="0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kumimoji="0" lang="en-CA" sz="700" b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kumimoji="0" lang="en-CA" sz="700" b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0" lang="en-CA" sz="7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836967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kumimoji="0" lang="en-CA" sz="7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836967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CA" sz="700" b="0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kumimoji="0" lang="en-CA" sz="700" b="0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kumimoji="0" lang="en-CA" sz="700" b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 </m:t>
                                    </m:r>
                                    <m:sSub>
                                      <m:sSubPr>
                                        <m:ctrlPr>
                                          <a:rPr kumimoji="0" lang="en-CA" sz="7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836967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CA" sz="700" b="0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kumimoji="0" lang="en-CA" sz="700" b="0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  <m:r>
                                          <a:rPr kumimoji="0" lang="en-CA" sz="700" b="0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kumimoji="0" lang="en-CA" sz="700" b="0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sub>
                                    </m:sSub>
                                    <m:r>
                                      <a:rPr kumimoji="0" lang="en-CA" sz="700" b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kumimoji="0" lang="en-CA" sz="7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836967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CA" sz="700" b="0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kumimoji="0" lang="en-CA" sz="700" b="0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kumimoji="0" lang="en-CA" sz="700" b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 </m:t>
                                    </m:r>
                                    <m:sSub>
                                      <m:sSubPr>
                                        <m:ctrlPr>
                                          <a:rPr kumimoji="0" lang="en-CA" sz="7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836967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CA" sz="700" b="0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kumimoji="0" lang="en-CA" sz="700" b="0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kumimoji="0" lang="en-CA" sz="700" b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den>
                                </m:f>
                                <m:r>
                                  <a:rPr kumimoji="0" lang="en-CA" sz="700" b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 − </m:t>
                                </m:r>
                                <m:sSub>
                                  <m:sSubPr>
                                    <m:ctrlPr>
                                      <a:rPr kumimoji="0" lang="en-CA" sz="7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836967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CA" sz="700" b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kumimoji="0" lang="en-CA" sz="700" b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  <m:r>
                                  <a:rPr kumimoji="0" lang="en-CA" sz="700" b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sSub>
                                  <m:sSubPr>
                                    <m:ctrlPr>
                                      <a:rPr kumimoji="0" lang="en-CA" sz="7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836967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CA" sz="700" b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kumimoji="0" lang="en-CA" sz="700" b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CA" sz="700" b="0" i="0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0B0004020202020204" pitchFamily="34" charset="0"/>
                            <a:ea typeface="Aptos" panose="020B00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700" b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kumimoji="0" lang="en-US" sz="700" b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→2</m:t>
                                </m:r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  <m:d>
                                  <m:dPr>
                                    <m:ctrlPr>
                                      <a:rPr kumimoji="0" lang="en-CA" sz="7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kumimoji="0" lang="en-CA" sz="7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kumimoji="0" lang="en-CA" sz="700" b="0" i="0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0B0004020202020204" pitchFamily="34" charset="0"/>
                            <a:ea typeface="Aptos" panose="020B00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833874388"/>
                      </a:ext>
                    </a:extLst>
                  </a:tr>
                  <a:tr h="38617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CA" sz="700" b="0" i="1" u="none" strike="noStrike" kern="1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𝑑𝑇</m:t>
                                    </m:r>
                                  </m:num>
                                  <m:den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0" lang="en-CA" sz="7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kumimoji="0" lang="en-CA" sz="7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 </m:t>
                                    </m:r>
                                    <m:d>
                                      <m:dPr>
                                        <m:ctrlPr>
                                          <a:rPr kumimoji="0" lang="en-CA" sz="7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kumimoji="0" lang="en-CA" sz="700" b="0" i="1" u="none" strike="noStrike" kern="1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0" lang="en-US" sz="700" b="0" u="none" strike="noStrike" kern="1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e>
                                          <m:sub>
                                            <m:r>
                                              <a:rPr kumimoji="0" lang="en-US" sz="700" b="0" u="none" strike="noStrike" kern="1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</a:rPr>
                                              <m:t>𝑓</m:t>
                                            </m:r>
                                          </m:sub>
                                        </m:sSub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den>
                                </m:f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 − </m:t>
                                </m:r>
                                <m:f>
                                  <m:fPr>
                                    <m:ctrlPr>
                                      <a:rPr kumimoji="0" lang="en-CA" sz="7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ρ</m:t>
                                    </m:r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 </m:t>
                                    </m:r>
                                    <m:sSub>
                                      <m:sSubPr>
                                        <m:ctrlPr>
                                          <a:rPr kumimoji="0" lang="en-CA" sz="7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sSub>
                                  <m:sSubPr>
                                    <m:ctrlPr>
                                      <a:rPr kumimoji="0" lang="en-CA" sz="7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sSub>
                                  <m:sSubPr>
                                    <m:ctrlPr>
                                      <a:rPr kumimoji="0" lang="en-CA" sz="7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b>
                                </m:sSub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sSub>
                                  <m:sSubPr>
                                    <m:ctrlPr>
                                      <a:rPr kumimoji="0" lang="en-CA" sz="7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 − </m:t>
                                </m:r>
                                <m:f>
                                  <m:fPr>
                                    <m:ctrlPr>
                                      <a:rPr kumimoji="0" lang="en-CA" sz="7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h𝐴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ρ</m:t>
                                    </m:r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 </m:t>
                                    </m:r>
                                    <m:sSub>
                                      <m:sSubPr>
                                        <m:ctrlPr>
                                          <a:rPr kumimoji="0" lang="en-CA" sz="7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 </m:t>
                                    </m:r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den>
                                </m:f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d>
                                  <m:dPr>
                                    <m:ctrlPr>
                                      <a:rPr kumimoji="0" lang="en-CA" sz="7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kumimoji="0" lang="en-CA" sz="7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CA" sz="70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700" b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kumimoji="0" lang="en-US" sz="700" b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kumimoji="0" lang="en-US" sz="700" b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kumimoji="0" lang="en-CA" sz="7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</a:rPr>
                                  <m:t>     </m:t>
                                </m:r>
                                <m:sSub>
                                  <m:sSubPr>
                                    <m:ctrlPr>
                                      <a:rPr kumimoji="0" lang="en-CA" sz="7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kumimoji="0" lang="en-CA" sz="700" b="0" i="0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0B0004020202020204" pitchFamily="34" charset="0"/>
                            <a:ea typeface="Aptos" panose="020B00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060728139"/>
                      </a:ext>
                    </a:extLst>
                  </a:tr>
                  <a:tr h="3387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CA" sz="700" b="0" i="1" u="none" strike="noStrike" kern="1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kumimoji="0" lang="en-CA" sz="7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0" lang="en-CA" sz="7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kumimoji="0" lang="en-CA" sz="7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 </m:t>
                                    </m:r>
                                    <m:d>
                                      <m:dPr>
                                        <m:ctrlPr>
                                          <a:rPr kumimoji="0" lang="en-CA" sz="7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kumimoji="0" lang="en-CA" sz="700" b="0" i="1" u="none" strike="noStrike" kern="1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0" lang="en-US" sz="700" b="0" u="none" strike="noStrike" kern="1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e>
                                          <m:sub>
                                            <m:r>
                                              <a:rPr kumimoji="0" lang="en-US" sz="700" b="0" u="none" strike="noStrike" kern="1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</a:rPr>
                                              <m:t>𝑐𝑓</m:t>
                                            </m:r>
                                          </m:sub>
                                        </m:sSub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kumimoji="0" lang="en-CA" sz="700" b="0" i="1" u="none" strike="noStrike" kern="1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0" lang="en-US" sz="700" b="0" u="none" strike="noStrike" kern="1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e>
                                          <m:sub>
                                            <m:r>
                                              <a:rPr kumimoji="0" lang="en-US" sz="700" b="0" u="none" strike="noStrike" kern="1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kumimoji="0" lang="en-CA" sz="7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 + </m:t>
                                </m:r>
                                <m:f>
                                  <m:fPr>
                                    <m:ctrlPr>
                                      <a:rPr kumimoji="0" lang="en-CA" sz="7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h𝐴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kumimoji="0" lang="en-CA" sz="7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ρ</m:t>
                                        </m:r>
                                      </m:e>
                                      <m:sub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 </m:t>
                                    </m:r>
                                    <m:sSub>
                                      <m:sSubPr>
                                        <m:ctrlPr>
                                          <a:rPr kumimoji="0" lang="en-CA" sz="7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 </m:t>
                                    </m:r>
                                    <m:sSub>
                                      <m:sSubPr>
                                        <m:ctrlPr>
                                          <a:rPr kumimoji="0" lang="en-CA" sz="7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d>
                                  <m:dPr>
                                    <m:ctrlPr>
                                      <a:rPr kumimoji="0" lang="en-CA" sz="7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kumimoji="0" lang="en-CA" sz="7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CA" sz="70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CA" sz="700" b="0" i="1" u="none" strike="noStrike" kern="1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kumimoji="0" lang="en-CA" sz="7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d>
                                  <m:dPr>
                                    <m:ctrlPr>
                                      <a:rPr kumimoji="0" lang="en-CA" sz="7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kumimoji="0" lang="en-CA" sz="7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CA" sz="7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987570991"/>
                      </a:ext>
                    </a:extLst>
                  </a:tr>
                  <a:tr h="28792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CA" sz="700" b="0" i="1" u="none" strike="noStrike" kern="1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kumimoji="0" lang="en-CA" sz="7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  <m:sub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0" lang="en-CA" sz="7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sSub>
                                  <m:sSubPr>
                                    <m:ctrlPr>
                                      <a:rPr kumimoji="0" lang="en-CA" sz="7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sSubSup>
                                  <m:sSubSupPr>
                                    <m:ctrlPr>
                                      <a:rPr kumimoji="0" lang="en-CA" sz="7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  <m:sup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 − </m:t>
                                </m:r>
                                <m:f>
                                  <m:fPr>
                                    <m:ctrlPr>
                                      <a:rPr kumimoji="0" lang="en-CA" sz="7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kumimoji="0" lang="en-CA" sz="7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 </m:t>
                                    </m:r>
                                    <m:sSub>
                                      <m:sSubPr>
                                        <m:ctrlPr>
                                          <a:rPr kumimoji="0" lang="en-CA" sz="7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  <m:sub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CA" sz="70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CA" sz="700" b="0" i="1" u="none" strike="noStrike" kern="1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kumimoji="0" lang="en-CA" sz="7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kumimoji="0" lang="en-CA" sz="7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kumimoji="0" lang="en-CA" sz="7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  <m:d>
                                  <m:dPr>
                                    <m:ctrlPr>
                                      <a:rPr kumimoji="0" lang="en-CA" sz="7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kumimoji="0" lang="en-CA" sz="7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𝑡𝑑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CA" sz="7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337003943"/>
                      </a:ext>
                    </a:extLst>
                  </a:tr>
                  <a:tr h="31753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CA" sz="700" b="0" i="1" u="none" strike="noStrike" kern="1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kumimoji="0" lang="en-CA" sz="7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0" lang="en-CA" sz="7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kumimoji="0" lang="en-CA" sz="7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 </m:t>
                                    </m:r>
                                    <m:sSub>
                                      <m:sSubPr>
                                        <m:ctrlPr>
                                          <a:rPr kumimoji="0" lang="en-CA" sz="7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sub>
                                    </m:sSub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kumimoji="0" lang="en-CA" sz="7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 </m:t>
                                    </m:r>
                                    <m:sSub>
                                      <m:sSubPr>
                                        <m:ctrlPr>
                                          <a:rPr kumimoji="0" lang="en-CA" sz="7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den>
                                </m:f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 − </m:t>
                                </m:r>
                                <m:sSub>
                                  <m:sSubPr>
                                    <m:ctrlPr>
                                      <a:rPr kumimoji="0" lang="en-CA" sz="7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sSub>
                                  <m:sSubPr>
                                    <m:ctrlPr>
                                      <a:rPr kumimoji="0" lang="en-CA" sz="7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b>
                                </m:sSub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sSub>
                                  <m:sSubPr>
                                    <m:ctrlPr>
                                      <a:rPr kumimoji="0" lang="en-CA" sz="7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A" sz="70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CA" sz="700" b="0" i="1" u="none" strike="noStrike" kern="1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kumimoji="0" lang="en-CA" sz="7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kumimoji="0" lang="en-CA" sz="7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 (</m:t>
                                </m:r>
                                <m:sSub>
                                  <m:sSubPr>
                                    <m:ctrlPr>
                                      <a:rPr kumimoji="0" lang="en-CA" sz="7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𝑡𝑐</m:t>
                                    </m:r>
                                  </m:sub>
                                </m:sSub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kumimoji="0" lang="en-CA" sz="700" b="0" i="0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0B0004020202020204" pitchFamily="34" charset="0"/>
                            <a:ea typeface="Aptos" panose="020B00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39979260"/>
                      </a:ext>
                    </a:extLst>
                  </a:tr>
                  <a:tr h="32614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CA" sz="700" b="0" i="1" u="none" strike="noStrike" kern="1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kumimoji="0" lang="en-CA" sz="7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  <m:sub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0" lang="en-CA" sz="7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sSub>
                                  <m:sSubPr>
                                    <m:ctrlPr>
                                      <a:rPr kumimoji="0" lang="en-CA" sz="7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sSub>
                                  <m:sSubPr>
                                    <m:ctrlPr>
                                      <a:rPr kumimoji="0" lang="en-CA" sz="7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b>
                                </m:sSub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sSub>
                                  <m:sSubPr>
                                    <m:ctrlPr>
                                      <a:rPr kumimoji="0" lang="en-CA" sz="7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 − </m:t>
                                </m:r>
                                <m:f>
                                  <m:fPr>
                                    <m:ctrlPr>
                                      <a:rPr kumimoji="0" lang="en-CA" sz="7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kumimoji="0" lang="en-CA" sz="7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 </m:t>
                                    </m:r>
                                    <m:sSub>
                                      <m:sSubPr>
                                        <m:ctrlPr>
                                          <a:rPr kumimoji="0" lang="en-CA" sz="7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  <m:sub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CA" sz="70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1"/>
                            <a:t>Intrinsic Viscosity</a:t>
                          </a:r>
                          <a:endParaRPr lang="en-CA" sz="700" b="1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624052563"/>
                      </a:ext>
                    </a:extLst>
                  </a:tr>
                  <a:tr h="32614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CA" sz="700" b="0" i="1" u="none" strike="noStrike" kern="1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kumimoji="0" lang="en-CA" sz="7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  <m:sub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=5 </m:t>
                                </m:r>
                                <m:sSub>
                                  <m:sSubPr>
                                    <m:ctrlPr>
                                      <a:rPr kumimoji="0" lang="en-CA" sz="7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sSub>
                                  <m:sSubPr>
                                    <m:ctrlPr>
                                      <a:rPr kumimoji="0" lang="en-CA" sz="7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sSub>
                                  <m:sSubPr>
                                    <m:ctrlPr>
                                      <a:rPr kumimoji="0" lang="en-CA" sz="7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b>
                                </m:sSub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sSub>
                                  <m:sSubPr>
                                    <m:ctrlPr>
                                      <a:rPr kumimoji="0" lang="en-CA" sz="7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 + </m:t>
                                </m:r>
                                <m:f>
                                  <m:fPr>
                                    <m:ctrlPr>
                                      <a:rPr kumimoji="0" lang="en-CA" sz="7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3 </m:t>
                                    </m:r>
                                    <m:sSub>
                                      <m:sSubPr>
                                        <m:ctrlPr>
                                          <a:rPr kumimoji="0" lang="en-CA" sz="7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 </m:t>
                                    </m:r>
                                    <m:sSubSup>
                                      <m:sSubSupPr>
                                        <m:ctrlPr>
                                          <a:rPr kumimoji="0" lang="en-CA" sz="7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  <m:sup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kumimoji="0" lang="en-CA" sz="7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sSubSup>
                                  <m:sSubSupPr>
                                    <m:ctrlPr>
                                      <a:rPr kumimoji="0" lang="en-CA" sz="7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b>
                                  <m:sup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kumimoji="0" lang="en-US" sz="700" b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 − </m:t>
                                </m:r>
                                <m:f>
                                  <m:fPr>
                                    <m:ctrlPr>
                                      <a:rPr kumimoji="0" lang="en-CA" sz="7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kumimoji="0" lang="en-CA" sz="7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 </m:t>
                                    </m:r>
                                    <m:sSub>
                                      <m:sSubPr>
                                        <m:ctrlPr>
                                          <a:rPr kumimoji="0" lang="en-CA" sz="7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  <m:sub>
                                        <m:r>
                                          <a:rPr kumimoji="0" lang="en-US" sz="700" b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kumimoji="0" lang="en-US" sz="700" b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CA" sz="70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70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η</m:t>
                                </m:r>
                                <m:r>
                                  <a:rPr lang="en-US" sz="7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=0.0012 </m:t>
                                </m:r>
                                <m:sSubSup>
                                  <m:sSubSupPr>
                                    <m:ctrlPr>
                                      <a:rPr lang="en-CA" sz="7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700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sz="700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  <m:sup>
                                    <m:r>
                                      <a:rPr lang="en-US" sz="700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0.71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CA" sz="700" kern="1200">
                            <a:solidFill>
                              <a:schemeClr val="dk1"/>
                            </a:solidFill>
                            <a:effectLst/>
                          </a:endParaRPr>
                        </a:p>
                        <a:p>
                          <a:pPr algn="ctr"/>
                          <a:endParaRPr lang="en-CA" sz="7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75262390"/>
                      </a:ext>
                    </a:extLst>
                  </a:tr>
                  <a:tr h="278211">
                    <a:tc gridSpan="2"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70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70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70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70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70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𝑒𝑥𝑝</m:t>
                                </m:r>
                                <m:d>
                                  <m:dPr>
                                    <m:ctrlPr>
                                      <a:rPr lang="en-CA" sz="7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700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CA" sz="7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700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num>
                                      <m:den>
                                        <m:r>
                                          <a:rPr lang="en-US" sz="700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7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CA" sz="7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700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700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7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CA" sz="7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700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700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7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CA" sz="7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700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700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  <m:r>
                                  <a:rPr lang="en-US" sz="7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CA" sz="7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700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700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sz="7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CA" sz="7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700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700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r>
                                  <a:rPr lang="en-US" sz="7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CA" sz="7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CA" sz="7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700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2 </m:t>
                                        </m:r>
                                        <m:sSub>
                                          <m:sSubPr>
                                            <m:ctrlPr>
                                              <a:rPr lang="en-CA" sz="70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700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r>
                                              <a:rPr lang="en-US" sz="700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sz="700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 </m:t>
                                        </m:r>
                                        <m:sSub>
                                          <m:sSubPr>
                                            <m:ctrlPr>
                                              <a:rPr lang="en-CA" sz="70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700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e>
                                          <m:sub>
                                            <m:r>
                                              <a:rPr lang="en-US" sz="700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</m:sub>
                                        </m:sSub>
                                        <m:r>
                                          <a:rPr lang="en-US" sz="700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 </m:t>
                                        </m:r>
                                        <m:sSub>
                                          <m:sSubPr>
                                            <m:ctrlPr>
                                              <a:rPr lang="en-CA" sz="70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700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US" sz="700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CA" sz="70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700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e>
                                          <m:sub>
                                            <m:r>
                                              <a:rPr lang="en-US" sz="700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rad>
                              </m:oMath>
                            </m:oMathPara>
                          </a14:m>
                          <a:endParaRPr kumimoji="0" lang="en-CA" sz="700" b="0" i="0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0B0004020202020204" pitchFamily="34" charset="0"/>
                            <a:ea typeface="Aptos" panose="020B00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A" sz="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3075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Content Placeholder 3">
                <a:extLst>
                  <a:ext uri="{FF2B5EF4-FFF2-40B4-BE49-F238E27FC236}">
                    <a16:creationId xmlns:a16="http://schemas.microsoft.com/office/drawing/2014/main" id="{DE1F126D-AD6B-D705-9B5C-4B1C85A2869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229163204"/>
                  </p:ext>
                </p:extLst>
              </p:nvPr>
            </p:nvGraphicFramePr>
            <p:xfrm>
              <a:off x="7177170" y="3258937"/>
              <a:ext cx="3933660" cy="3261061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2497094">
                      <a:extLst>
                        <a:ext uri="{9D8B030D-6E8A-4147-A177-3AD203B41FA5}">
                          <a16:colId xmlns:a16="http://schemas.microsoft.com/office/drawing/2014/main" val="3259215856"/>
                        </a:ext>
                      </a:extLst>
                    </a:gridCol>
                    <a:gridCol w="1436566">
                      <a:extLst>
                        <a:ext uri="{9D8B030D-6E8A-4147-A177-3AD203B41FA5}">
                          <a16:colId xmlns:a16="http://schemas.microsoft.com/office/drawing/2014/main" val="3590772187"/>
                        </a:ext>
                      </a:extLst>
                    </a:gridCol>
                  </a:tblGrid>
                  <a:tr h="3261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/>
                            <a:t>Governing Equations</a:t>
                          </a:r>
                          <a:endParaRPr lang="en-CA" sz="70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/>
                            <a:t>Reactions</a:t>
                          </a:r>
                          <a:endParaRPr lang="en-CA" sz="7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529206599"/>
                      </a:ext>
                    </a:extLst>
                  </a:tr>
                  <a:tr h="41071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t="-82090" r="-57805" b="-6208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4"/>
                          <a:stretch>
                            <a:fillRect l="-173729" t="-82090" r="-424" b="-6208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3874388"/>
                      </a:ext>
                    </a:extLst>
                  </a:tr>
                  <a:tr h="38617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t="-190625" r="-57805" b="-5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4"/>
                          <a:stretch>
                            <a:fillRect l="-173729" t="-190625" r="-424" b="-5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0728139"/>
                      </a:ext>
                    </a:extLst>
                  </a:tr>
                  <a:tr h="3437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t="-332143" r="-57805" b="-5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4"/>
                          <a:stretch>
                            <a:fillRect l="-173729" t="-332143" r="-424" b="-52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7570991"/>
                      </a:ext>
                    </a:extLst>
                  </a:tr>
                  <a:tr h="2940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t="-504167" r="-57805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4"/>
                          <a:stretch>
                            <a:fillRect l="-173729" t="-504167" r="-424" b="-5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37003943"/>
                      </a:ext>
                    </a:extLst>
                  </a:tr>
                  <a:tr h="3175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t="-547170" r="-57805" b="-3679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3729" t="-547170" r="-424" b="-3679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9979260"/>
                      </a:ext>
                    </a:extLst>
                  </a:tr>
                  <a:tr h="3261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t="-647170" r="-57805" b="-2679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1"/>
                            <a:t>Intrinsic Viscosity</a:t>
                          </a:r>
                          <a:endParaRPr lang="en-CA" sz="700" b="1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624052563"/>
                      </a:ext>
                    </a:extLst>
                  </a:tr>
                  <a:tr h="32626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733333" r="-57805" b="-1629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3729" t="-733333" r="-424" b="-1629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5262390"/>
                      </a:ext>
                    </a:extLst>
                  </a:tr>
                  <a:tr h="530289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t="-517241" r="-155" b="-114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A" sz="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3075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535393C8-0376-4CE4-81CB-BBCCE8C37397}"/>
              </a:ext>
            </a:extLst>
          </p:cNvPr>
          <p:cNvSpPr txBox="1"/>
          <p:nvPr/>
        </p:nvSpPr>
        <p:spPr>
          <a:xfrm>
            <a:off x="10108506" y="1287335"/>
            <a:ext cx="1977556" cy="1328023"/>
          </a:xfrm>
          <a:prstGeom prst="roundRect">
            <a:avLst/>
          </a:prstGeom>
          <a:solidFill>
            <a:srgbClr val="DAE3F3"/>
          </a:solidFill>
        </p:spPr>
        <p:txBody>
          <a:bodyPr wrap="square" rtlCol="0">
            <a:spAutoFit/>
          </a:bodyPr>
          <a:lstStyle/>
          <a:p>
            <a:pPr lvl="0"/>
            <a:r>
              <a:rPr lang="en-US" sz="1200" b="1">
                <a:latin typeface="Segoe UI" panose="020B0502040204020203" pitchFamily="34" charset="0"/>
                <a:ea typeface="Calibri" panose="020F0502020204030204" pitchFamily="34" charset="0"/>
              </a:rPr>
              <a:t>Manipulated inputs: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>
                <a:latin typeface="Segoe UI" panose="020B0502040204020203" pitchFamily="34" charset="0"/>
                <a:ea typeface="Calibri" panose="020F0502020204030204" pitchFamily="34" charset="0"/>
              </a:rPr>
              <a:t>Cooling flow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Monomer Flow</a:t>
            </a:r>
          </a:p>
          <a:p>
            <a:pPr lvl="0"/>
            <a:r>
              <a:rPr lang="en-US" sz="1200" b="1">
                <a:latin typeface="Segoe UI" panose="020B0502040204020203" pitchFamily="34" charset="0"/>
                <a:ea typeface="Calibri" panose="020F0502020204030204" pitchFamily="34" charset="0"/>
              </a:rPr>
              <a:t>Controlled Outputs: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>
                <a:latin typeface="Segoe UI" panose="020B0502040204020203" pitchFamily="34" charset="0"/>
                <a:ea typeface="Calibri" panose="020F0502020204030204" pitchFamily="34" charset="0"/>
              </a:rPr>
              <a:t>Viscosity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Temperature</a:t>
            </a:r>
            <a:endParaRPr lang="en-CA" sz="1200">
              <a:effectLst/>
              <a:latin typeface="Segoe UI" panose="020B0502040204020203" pitchFamily="34" charset="0"/>
              <a:ea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0826F8-F9C5-41B3-9EC4-F14BABADD03A}"/>
              </a:ext>
            </a:extLst>
          </p:cNvPr>
          <p:cNvSpPr txBox="1"/>
          <p:nvPr/>
        </p:nvSpPr>
        <p:spPr>
          <a:xfrm>
            <a:off x="3878956" y="1287335"/>
            <a:ext cx="1977556" cy="1532334"/>
          </a:xfrm>
          <a:prstGeom prst="roundRect">
            <a:avLst/>
          </a:prstGeom>
          <a:solidFill>
            <a:srgbClr val="DAE3F3"/>
          </a:solidFill>
        </p:spPr>
        <p:txBody>
          <a:bodyPr wrap="square" rtlCol="0">
            <a:spAutoFit/>
          </a:bodyPr>
          <a:lstStyle/>
          <a:p>
            <a:pPr lvl="0"/>
            <a:r>
              <a:rPr lang="en-US" sz="1200" b="1">
                <a:latin typeface="Segoe UI" panose="020B0502040204020203" pitchFamily="34" charset="0"/>
                <a:ea typeface="Calibri" panose="020F0502020204030204" pitchFamily="34" charset="0"/>
              </a:rPr>
              <a:t>Manipulated inputs: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>
                <a:latin typeface="Segoe UI" panose="020B0502040204020203" pitchFamily="34" charset="0"/>
                <a:ea typeface="Calibri" panose="020F0502020204030204" pitchFamily="34" charset="0"/>
              </a:rPr>
              <a:t>Reflux Flow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Reboiler Duty</a:t>
            </a:r>
          </a:p>
          <a:p>
            <a:pPr lvl="0"/>
            <a:r>
              <a:rPr lang="en-US" sz="1200" b="1">
                <a:latin typeface="Segoe UI" panose="020B0502040204020203" pitchFamily="34" charset="0"/>
                <a:ea typeface="Calibri" panose="020F0502020204030204" pitchFamily="34" charset="0"/>
              </a:rPr>
              <a:t>Controlled Outputs: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>
                <a:latin typeface="Segoe UI" panose="020B0502040204020203" pitchFamily="34" charset="0"/>
                <a:ea typeface="Calibri" panose="020F0502020204030204" pitchFamily="34" charset="0"/>
              </a:rPr>
              <a:t>Tray 24 ethane comp.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Tray 85 temp.</a:t>
            </a:r>
            <a:endParaRPr lang="en-CA" sz="1200">
              <a:effectLst/>
              <a:latin typeface="Segoe UI" panose="020B0502040204020203" pitchFamily="34" charset="0"/>
              <a:ea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56BE5D-7F89-4FC0-25FC-D604AC2B083F}"/>
              </a:ext>
            </a:extLst>
          </p:cNvPr>
          <p:cNvSpPr txBox="1"/>
          <p:nvPr/>
        </p:nvSpPr>
        <p:spPr>
          <a:xfrm>
            <a:off x="201881" y="4350327"/>
            <a:ext cx="55418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Simulation is in Aspen Dynamics.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Python and Aspen Dynamics are connected.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Distillation Column Inputs: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Feed flow, pressure, and temperature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Feed </a:t>
            </a:r>
            <a:r>
              <a:rPr lang="en-US" sz="1800" kern="10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</a:t>
            </a:r>
            <a:r>
              <a:rPr lang="en-US" sz="1800" kern="100" baseline="-2500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sz="1800" kern="10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</a:t>
            </a:r>
            <a:r>
              <a:rPr lang="en-US" sz="1800" kern="100" baseline="-2500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</a:t>
            </a:r>
            <a:r>
              <a:rPr lang="en-US" sz="1800" kern="10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and C</a:t>
            </a:r>
            <a:r>
              <a:rPr lang="en-US" sz="1800" kern="100" baseline="-2500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sz="1800" kern="10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</a:t>
            </a:r>
            <a:r>
              <a:rPr lang="en-US" sz="1800" kern="100" baseline="-2500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6  </a:t>
            </a:r>
            <a:r>
              <a:rPr lang="en-US"/>
              <a:t>compositions</a:t>
            </a:r>
          </a:p>
        </p:txBody>
      </p:sp>
    </p:spTree>
    <p:extLst>
      <p:ext uri="{BB962C8B-B14F-4D97-AF65-F5344CB8AC3E}">
        <p14:creationId xmlns:p14="http://schemas.microsoft.com/office/powerpoint/2010/main" val="995578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B81F2-C7CC-A2F3-DB14-E93C0B55D1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01797"/>
            <a:ext cx="12230100" cy="660721"/>
          </a:xfrm>
          <a:solidFill>
            <a:srgbClr val="EEEEEE"/>
          </a:solidFill>
        </p:spPr>
        <p:txBody>
          <a:bodyPr>
            <a:noAutofit/>
          </a:bodyPr>
          <a:lstStyle/>
          <a:p>
            <a:r>
              <a:rPr lang="en-CA" sz="4400" b="1"/>
              <a:t>Safe RL Control Implementation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BD5C36-1E5D-C7E1-9D24-D03DC93548B6}"/>
              </a:ext>
            </a:extLst>
          </p:cNvPr>
          <p:cNvSpPr/>
          <p:nvPr/>
        </p:nvSpPr>
        <p:spPr>
          <a:xfrm>
            <a:off x="0" y="0"/>
            <a:ext cx="12192000" cy="301797"/>
          </a:xfrm>
          <a:prstGeom prst="rect">
            <a:avLst/>
          </a:prstGeom>
          <a:solidFill>
            <a:srgbClr val="203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689501-4B57-857B-805A-E82E50C58143}"/>
              </a:ext>
            </a:extLst>
          </p:cNvPr>
          <p:cNvSpPr/>
          <p:nvPr/>
        </p:nvSpPr>
        <p:spPr>
          <a:xfrm>
            <a:off x="0" y="6556203"/>
            <a:ext cx="6096000" cy="301797"/>
          </a:xfrm>
          <a:prstGeom prst="rect">
            <a:avLst/>
          </a:prstGeom>
          <a:solidFill>
            <a:srgbClr val="203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6D5EE5-99AF-7DC9-573D-BCF1A25DEAEC}"/>
              </a:ext>
            </a:extLst>
          </p:cNvPr>
          <p:cNvSpPr/>
          <p:nvPr/>
        </p:nvSpPr>
        <p:spPr>
          <a:xfrm>
            <a:off x="6096000" y="6556203"/>
            <a:ext cx="6096000" cy="30179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25CD69-47F3-9E7F-7DB2-1A30C2F2D544}"/>
              </a:ext>
            </a:extLst>
          </p:cNvPr>
          <p:cNvSpPr txBox="1"/>
          <p:nvPr/>
        </p:nvSpPr>
        <p:spPr>
          <a:xfrm>
            <a:off x="5042429" y="-36757"/>
            <a:ext cx="19740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Control </a:t>
            </a:r>
            <a:r>
              <a:rPr lang="en-CA" sz="1600">
                <a:solidFill>
                  <a:schemeClr val="bg1"/>
                </a:solidFill>
              </a:rPr>
              <a:t>Methodology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AB6F99-0279-92F2-60B1-78F37DEB3D75}"/>
              </a:ext>
            </a:extLst>
          </p:cNvPr>
          <p:cNvSpPr txBox="1"/>
          <p:nvPr/>
        </p:nvSpPr>
        <p:spPr>
          <a:xfrm>
            <a:off x="9626600" y="6537824"/>
            <a:ext cx="2565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/>
              <a:t>MACC Annual Meeting 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611581-4F6C-685F-4C67-45FB5C1C68B7}"/>
              </a:ext>
            </a:extLst>
          </p:cNvPr>
          <p:cNvSpPr txBox="1"/>
          <p:nvPr/>
        </p:nvSpPr>
        <p:spPr>
          <a:xfrm>
            <a:off x="0" y="6535092"/>
            <a:ext cx="46863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>
                <a:solidFill>
                  <a:schemeClr val="bg1"/>
                </a:solidFill>
              </a:rPr>
              <a:t>Amir Hossein Hamedi Supervisor: Dr. Mhaskar</a:t>
            </a:r>
          </a:p>
        </p:txBody>
      </p:sp>
      <p:pic>
        <p:nvPicPr>
          <p:cNvPr id="12" name="Picture 11" descr="A diagram of a network&#10;&#10;AI-generated content may be incorrect.">
            <a:extLst>
              <a:ext uri="{FF2B5EF4-FFF2-40B4-BE49-F238E27FC236}">
                <a16:creationId xmlns:a16="http://schemas.microsoft.com/office/drawing/2014/main" id="{7D8E4122-B2BD-85DB-4548-E29891B9FA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300" y="997059"/>
            <a:ext cx="3779012" cy="2945213"/>
          </a:xfrm>
          <a:prstGeom prst="rect">
            <a:avLst/>
          </a:prstGeom>
        </p:spPr>
      </p:pic>
      <p:pic>
        <p:nvPicPr>
          <p:cNvPr id="17" name="Picture 16" descr="A diagram of a training process&#10;&#10;AI-generated content may be incorrect.">
            <a:extLst>
              <a:ext uri="{FF2B5EF4-FFF2-40B4-BE49-F238E27FC236}">
                <a16:creationId xmlns:a16="http://schemas.microsoft.com/office/drawing/2014/main" id="{B4C3752E-54BD-6CA8-64F8-983B413106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80" y="962518"/>
            <a:ext cx="4522520" cy="2979754"/>
          </a:xfrm>
          <a:prstGeom prst="rect">
            <a:avLst/>
          </a:prstGeom>
        </p:spPr>
      </p:pic>
      <p:pic>
        <p:nvPicPr>
          <p:cNvPr id="21" name="Picture 20" descr="A computer screen with icons&#10;&#10;AI-generated content may be incorrect.">
            <a:extLst>
              <a:ext uri="{FF2B5EF4-FFF2-40B4-BE49-F238E27FC236}">
                <a16:creationId xmlns:a16="http://schemas.microsoft.com/office/drawing/2014/main" id="{33E6D5AD-F839-0B24-C8D1-761FCC8F5C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9093" y="1037109"/>
            <a:ext cx="3254150" cy="290516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63FC9B3-A117-48B4-A5FD-BBCD4FE68D3B}"/>
              </a:ext>
            </a:extLst>
          </p:cNvPr>
          <p:cNvSpPr txBox="1"/>
          <p:nvPr/>
        </p:nvSpPr>
        <p:spPr>
          <a:xfrm>
            <a:off x="449591" y="3942272"/>
            <a:ext cx="3950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Block Diagram of RL Controller Design</a:t>
            </a:r>
            <a:endParaRPr lang="en-CA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5B7E0D-5C1D-DAA4-A1D5-4F4EFA0C0FE4}"/>
              </a:ext>
            </a:extLst>
          </p:cNvPr>
          <p:cNvSpPr txBox="1"/>
          <p:nvPr/>
        </p:nvSpPr>
        <p:spPr>
          <a:xfrm>
            <a:off x="5790802" y="3942272"/>
            <a:ext cx="1570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TD3 Schematic</a:t>
            </a:r>
            <a:endParaRPr lang="en-CA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4C2D50-961A-9C7F-557D-EBE77CD54EDB}"/>
              </a:ext>
            </a:extLst>
          </p:cNvPr>
          <p:cNvSpPr txBox="1"/>
          <p:nvPr/>
        </p:nvSpPr>
        <p:spPr>
          <a:xfrm>
            <a:off x="9208820" y="3942272"/>
            <a:ext cx="2234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Working Environment</a:t>
            </a:r>
            <a:endParaRPr lang="en-CA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F499D1-7E04-C94C-10AF-533F387F3D5A}"/>
              </a:ext>
            </a:extLst>
          </p:cNvPr>
          <p:cNvSpPr txBox="1"/>
          <p:nvPr/>
        </p:nvSpPr>
        <p:spPr>
          <a:xfrm>
            <a:off x="163780" y="4385677"/>
            <a:ext cx="5726381" cy="2009061"/>
          </a:xfrm>
          <a:prstGeom prst="roundRect">
            <a:avLst/>
          </a:prstGeom>
          <a:solidFill>
            <a:srgbClr val="DAE3F3"/>
          </a:solidFill>
        </p:spPr>
        <p:txBody>
          <a:bodyPr wrap="square" rtlCol="0">
            <a:spAutoFit/>
          </a:bodyPr>
          <a:lstStyle/>
          <a:p>
            <a:pPr lvl="0"/>
            <a:r>
              <a:rPr lang="en-CA" sz="1400" b="1">
                <a:latin typeface="Segoe UI" panose="020B0502040204020203" pitchFamily="34" charset="0"/>
                <a:ea typeface="Calibri" panose="020F0502020204030204" pitchFamily="34" charset="0"/>
              </a:rPr>
              <a:t>Pre-train Phase</a:t>
            </a:r>
            <a:endParaRPr lang="en-CA" sz="1400" b="1">
              <a:effectLst/>
              <a:latin typeface="Segoe UI" panose="020B0502040204020203" pitchFamily="34" charset="0"/>
              <a:ea typeface="Calibri" panose="020F050202020403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CA" sz="1400"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Linear state-space model from step test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A" sz="1400">
                <a:latin typeface="Segoe UI" panose="020B0502040204020203" pitchFamily="34" charset="0"/>
                <a:ea typeface="Calibri" panose="020F0502020204030204" pitchFamily="34" charset="0"/>
              </a:rPr>
              <a:t>Create random states in range of max and min of the states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A" sz="1400"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Solve MPC formulation and get the control action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A" sz="1400">
                <a:latin typeface="Segoe UI" panose="020B0502040204020203" pitchFamily="34" charset="0"/>
                <a:ea typeface="Calibri" panose="020F0502020204030204" pitchFamily="34" charset="0"/>
              </a:rPr>
              <a:t>Next state and output from the linear state space model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A" sz="1400">
                <a:latin typeface="Segoe UI" panose="020B0502040204020203" pitchFamily="34" charset="0"/>
                <a:ea typeface="Calibri" panose="020F0502020204030204" pitchFamily="34" charset="0"/>
              </a:rPr>
              <a:t>Calculate reward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A" sz="1400"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Stack all these experiences in the replay b</a:t>
            </a:r>
            <a:r>
              <a:rPr lang="en-CA" sz="1400">
                <a:latin typeface="Segoe UI" panose="020B0502040204020203" pitchFamily="34" charset="0"/>
                <a:ea typeface="Calibri" panose="020F0502020204030204" pitchFamily="34" charset="0"/>
              </a:rPr>
              <a:t>uffer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A" sz="1400"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Pre-train TD3 Agent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B7D93E-0420-528E-3039-463D70970C2C}"/>
              </a:ext>
            </a:extLst>
          </p:cNvPr>
          <p:cNvSpPr txBox="1"/>
          <p:nvPr/>
        </p:nvSpPr>
        <p:spPr>
          <a:xfrm>
            <a:off x="6096000" y="4380914"/>
            <a:ext cx="5932220" cy="2145268"/>
          </a:xfrm>
          <a:prstGeom prst="roundRect">
            <a:avLst/>
          </a:prstGeom>
          <a:solidFill>
            <a:srgbClr val="DAE3F3"/>
          </a:solidFill>
        </p:spPr>
        <p:txBody>
          <a:bodyPr wrap="square" rtlCol="0">
            <a:spAutoFit/>
          </a:bodyPr>
          <a:lstStyle/>
          <a:p>
            <a:pPr lvl="0"/>
            <a:r>
              <a:rPr lang="en-CA" sz="1200" b="1">
                <a:latin typeface="Segoe UI" panose="020B0502040204020203" pitchFamily="34" charset="0"/>
                <a:ea typeface="Calibri" panose="020F0502020204030204" pitchFamily="34" charset="0"/>
              </a:rPr>
              <a:t>Online deployment Phase</a:t>
            </a:r>
            <a:endParaRPr lang="en-CA" sz="1200" b="1">
              <a:effectLst/>
              <a:latin typeface="Segoe UI" panose="020B0502040204020203" pitchFamily="34" charset="0"/>
              <a:ea typeface="Calibri" panose="020F050202020403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CA" sz="1200"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Adjustments to TD3 Agents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sz="1200"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An exponential </a:t>
            </a:r>
            <a:r>
              <a:rPr lang="en-CA" sz="1200">
                <a:latin typeface="Segoe UI" panose="020B0502040204020203" pitchFamily="34" charset="0"/>
                <a:ea typeface="Calibri" panose="020F0502020204030204" pitchFamily="34" charset="0"/>
              </a:rPr>
              <a:t>bonus reward function to encourage offset free behavior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sz="1200"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Huber loss function to learn more from undesired actions</a:t>
            </a:r>
          </a:p>
          <a:p>
            <a:pPr marL="342900" indent="-342900">
              <a:buFont typeface="+mj-lt"/>
              <a:buAutoNum type="arabicPeriod"/>
            </a:pPr>
            <a:r>
              <a:rPr lang="en-CA" sz="1200">
                <a:latin typeface="Segoe UI" panose="020B0502040204020203" pitchFamily="34" charset="0"/>
                <a:ea typeface="Calibri" panose="020F0502020204030204" pitchFamily="34" charset="0"/>
              </a:rPr>
              <a:t>Warm-start: Let the agent with restricted exploration to search over the action boundaries</a:t>
            </a:r>
          </a:p>
          <a:p>
            <a:pPr marL="342900" indent="-342900">
              <a:buFont typeface="+mj-lt"/>
              <a:buAutoNum type="arabicPeriod"/>
            </a:pPr>
            <a:r>
              <a:rPr lang="en-CA" sz="1200">
                <a:latin typeface="Segoe UI" panose="020B0502040204020203" pitchFamily="34" charset="0"/>
                <a:ea typeface="Calibri" panose="020F0502020204030204" pitchFamily="34" charset="0"/>
              </a:rPr>
              <a:t>After warm-start the agent will start training to find the optimal policy</a:t>
            </a:r>
          </a:p>
          <a:p>
            <a:pPr marL="342900" indent="-342900">
              <a:buFont typeface="+mj-lt"/>
              <a:buAutoNum type="arabicPeriod"/>
            </a:pPr>
            <a:r>
              <a:rPr lang="en-CA" sz="1200"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Exploration noise will decay over time</a:t>
            </a:r>
          </a:p>
          <a:p>
            <a:pPr marL="342900" indent="-342900">
              <a:buFont typeface="+mj-lt"/>
              <a:buAutoNum type="arabicPeriod"/>
            </a:pPr>
            <a:r>
              <a:rPr lang="en-CA" sz="1200">
                <a:latin typeface="Segoe UI" panose="020B0502040204020203" pitchFamily="34" charset="0"/>
                <a:ea typeface="Calibri" panose="020F0502020204030204" pitchFamily="34" charset="0"/>
              </a:rPr>
              <a:t>The agent will train under nominal conditions and disturbances</a:t>
            </a:r>
            <a:endParaRPr lang="en-CA" sz="1200">
              <a:effectLst/>
              <a:latin typeface="Segoe UI" panose="020B0502040204020203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995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B81F2-C7CC-A2F3-DB14-E93C0B55D1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01797"/>
            <a:ext cx="12230100" cy="660721"/>
          </a:xfrm>
          <a:solidFill>
            <a:srgbClr val="EEEEEE"/>
          </a:solidFill>
        </p:spPr>
        <p:txBody>
          <a:bodyPr>
            <a:noAutofit/>
          </a:bodyPr>
          <a:lstStyle/>
          <a:p>
            <a:r>
              <a:rPr lang="en-CA" sz="4000" b="1"/>
              <a:t>Proposed RL agent controller Results for Polymer Reactor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BD5C36-1E5D-C7E1-9D24-D03DC93548B6}"/>
              </a:ext>
            </a:extLst>
          </p:cNvPr>
          <p:cNvSpPr/>
          <p:nvPr/>
        </p:nvSpPr>
        <p:spPr>
          <a:xfrm>
            <a:off x="0" y="0"/>
            <a:ext cx="12192000" cy="301797"/>
          </a:xfrm>
          <a:prstGeom prst="rect">
            <a:avLst/>
          </a:prstGeom>
          <a:solidFill>
            <a:srgbClr val="203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689501-4B57-857B-805A-E82E50C58143}"/>
              </a:ext>
            </a:extLst>
          </p:cNvPr>
          <p:cNvSpPr/>
          <p:nvPr/>
        </p:nvSpPr>
        <p:spPr>
          <a:xfrm>
            <a:off x="0" y="6556203"/>
            <a:ext cx="6096000" cy="301797"/>
          </a:xfrm>
          <a:prstGeom prst="rect">
            <a:avLst/>
          </a:prstGeom>
          <a:solidFill>
            <a:srgbClr val="203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6D5EE5-99AF-7DC9-573D-BCF1A25DEAEC}"/>
              </a:ext>
            </a:extLst>
          </p:cNvPr>
          <p:cNvSpPr/>
          <p:nvPr/>
        </p:nvSpPr>
        <p:spPr>
          <a:xfrm>
            <a:off x="6096000" y="6556203"/>
            <a:ext cx="6096000" cy="30179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25CD69-47F3-9E7F-7DB2-1A30C2F2D544}"/>
              </a:ext>
            </a:extLst>
          </p:cNvPr>
          <p:cNvSpPr txBox="1"/>
          <p:nvPr/>
        </p:nvSpPr>
        <p:spPr>
          <a:xfrm>
            <a:off x="5523949" y="-36757"/>
            <a:ext cx="7803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AB6F99-0279-92F2-60B1-78F37DEB3D75}"/>
              </a:ext>
            </a:extLst>
          </p:cNvPr>
          <p:cNvSpPr txBox="1"/>
          <p:nvPr/>
        </p:nvSpPr>
        <p:spPr>
          <a:xfrm>
            <a:off x="9626600" y="6537824"/>
            <a:ext cx="2565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/>
              <a:t>MACC Annual Meeting 2025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570F84-A86F-6C3F-BF92-7ED4AB1FA9E9}"/>
              </a:ext>
            </a:extLst>
          </p:cNvPr>
          <p:cNvSpPr txBox="1"/>
          <p:nvPr/>
        </p:nvSpPr>
        <p:spPr>
          <a:xfrm>
            <a:off x="0" y="998150"/>
            <a:ext cx="2237948" cy="408623"/>
          </a:xfrm>
          <a:prstGeom prst="roundRect">
            <a:avLst/>
          </a:prstGeom>
          <a:solidFill>
            <a:srgbClr val="DAE3F3"/>
          </a:solidFill>
        </p:spPr>
        <p:txBody>
          <a:bodyPr wrap="square" rtlCol="0">
            <a:spAutoFit/>
          </a:bodyPr>
          <a:lstStyle/>
          <a:p>
            <a:pPr lvl="0"/>
            <a:r>
              <a:rPr lang="en-CA" sz="1800"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Nominal Conditions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CECC1F9-AEBA-7D38-4F0D-6EBC32BD0617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6096000" y="962518"/>
            <a:ext cx="19050" cy="5593685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5" name="Picture 14" descr="A graph of a graph showing a set of time&#10;&#10;AI-generated content may be incorrect.">
            <a:extLst>
              <a:ext uri="{FF2B5EF4-FFF2-40B4-BE49-F238E27FC236}">
                <a16:creationId xmlns:a16="http://schemas.microsoft.com/office/drawing/2014/main" id="{E00CC079-6B53-CD43-D31B-38DA46F21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59" y="1406773"/>
            <a:ext cx="2801438" cy="2343398"/>
          </a:xfrm>
          <a:prstGeom prst="rect">
            <a:avLst/>
          </a:prstGeom>
        </p:spPr>
      </p:pic>
      <p:pic>
        <p:nvPicPr>
          <p:cNvPr id="17" name="Picture 16" descr="A graph showing a graph of reward per episode&#10;&#10;AI-generated content may be incorrect.">
            <a:extLst>
              <a:ext uri="{FF2B5EF4-FFF2-40B4-BE49-F238E27FC236}">
                <a16:creationId xmlns:a16="http://schemas.microsoft.com/office/drawing/2014/main" id="{CD386A18-39B7-0A20-0550-40FF9005D8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4239" y="1406773"/>
            <a:ext cx="3146219" cy="2361777"/>
          </a:xfrm>
          <a:prstGeom prst="rect">
            <a:avLst/>
          </a:prstGeom>
        </p:spPr>
      </p:pic>
      <p:pic>
        <p:nvPicPr>
          <p:cNvPr id="19" name="Picture 18" descr="A graph of a set of data&#10;&#10;AI-generated content may be incorrect.">
            <a:extLst>
              <a:ext uri="{FF2B5EF4-FFF2-40B4-BE49-F238E27FC236}">
                <a16:creationId xmlns:a16="http://schemas.microsoft.com/office/drawing/2014/main" id="{A002BDAF-6E38-23E2-D749-CC71C47C3F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77" y="3966711"/>
            <a:ext cx="4018524" cy="204499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0BC72C0-A369-1EF9-44FB-579D2414E205}"/>
              </a:ext>
            </a:extLst>
          </p:cNvPr>
          <p:cNvSpPr txBox="1"/>
          <p:nvPr/>
        </p:nvSpPr>
        <p:spPr>
          <a:xfrm>
            <a:off x="6170592" y="998149"/>
            <a:ext cx="2237948" cy="408623"/>
          </a:xfrm>
          <a:prstGeom prst="roundRect">
            <a:avLst/>
          </a:prstGeom>
          <a:solidFill>
            <a:srgbClr val="DAE3F3"/>
          </a:solidFill>
        </p:spPr>
        <p:txBody>
          <a:bodyPr wrap="square" rtlCol="0">
            <a:spAutoFit/>
          </a:bodyPr>
          <a:lstStyle/>
          <a:p>
            <a:pPr lvl="0"/>
            <a:r>
              <a:rPr lang="en-CA" sz="1800"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Under Disturbances</a:t>
            </a:r>
          </a:p>
        </p:txBody>
      </p:sp>
      <p:pic>
        <p:nvPicPr>
          <p:cNvPr id="22" name="Picture 21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44F59C42-095A-DC26-4979-6629DC9FF6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2883" y="1442403"/>
            <a:ext cx="2882364" cy="2307768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3F022B7-DF33-DD72-B39F-711E69B4E9BE}"/>
              </a:ext>
            </a:extLst>
          </p:cNvPr>
          <p:cNvCxnSpPr/>
          <p:nvPr/>
        </p:nvCxnSpPr>
        <p:spPr>
          <a:xfrm>
            <a:off x="3245922" y="2501731"/>
            <a:ext cx="2794536" cy="0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C439F03-CE8D-C091-A690-7816F704577B}"/>
              </a:ext>
            </a:extLst>
          </p:cNvPr>
          <p:cNvSpPr txBox="1"/>
          <p:nvPr/>
        </p:nvSpPr>
        <p:spPr>
          <a:xfrm>
            <a:off x="3245922" y="2336855"/>
            <a:ext cx="62939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600">
                <a:solidFill>
                  <a:schemeClr val="accent2">
                    <a:lumMod val="50000"/>
                  </a:schemeClr>
                </a:solidFill>
              </a:rPr>
              <a:t>MPC Baseline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138098E-8DB9-FE08-78A2-1ECBDDCA3A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5247" y="1460783"/>
            <a:ext cx="3028968" cy="230776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1DF5F84-02EF-E546-0282-F6E1182A762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313" y="3822653"/>
            <a:ext cx="4018524" cy="2100663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4176CF6C-3000-D55A-50B0-0FB3825A5845}"/>
              </a:ext>
            </a:extLst>
          </p:cNvPr>
          <p:cNvSpPr txBox="1"/>
          <p:nvPr/>
        </p:nvSpPr>
        <p:spPr>
          <a:xfrm>
            <a:off x="1167740" y="3705101"/>
            <a:ext cx="1749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/>
              <a:t>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DE2A4E2-5BBD-D12A-0286-E655EF016A4B}"/>
              </a:ext>
            </a:extLst>
          </p:cNvPr>
          <p:cNvSpPr txBox="1"/>
          <p:nvPr/>
        </p:nvSpPr>
        <p:spPr>
          <a:xfrm>
            <a:off x="4465988" y="3703899"/>
            <a:ext cx="1749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/>
              <a:t>b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BE4FF5D-0345-95AF-834A-8C4CA138A03A}"/>
              </a:ext>
            </a:extLst>
          </p:cNvPr>
          <p:cNvSpPr txBox="1"/>
          <p:nvPr/>
        </p:nvSpPr>
        <p:spPr>
          <a:xfrm>
            <a:off x="2894239" y="5953878"/>
            <a:ext cx="1749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/>
              <a:t>C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82981E4-36FC-2066-C03C-F83FAE7B17CD}"/>
              </a:ext>
            </a:extLst>
          </p:cNvPr>
          <p:cNvSpPr txBox="1"/>
          <p:nvPr/>
        </p:nvSpPr>
        <p:spPr>
          <a:xfrm>
            <a:off x="476936" y="6165625"/>
            <a:ext cx="504701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900"/>
              <a:t>a) RL setpoint tracking over 200 episodes b) Average rewards vs. time c) RL vs. MPC for last episode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368D476-A33B-E309-4BA4-E84B037AF419}"/>
              </a:ext>
            </a:extLst>
          </p:cNvPr>
          <p:cNvSpPr txBox="1"/>
          <p:nvPr/>
        </p:nvSpPr>
        <p:spPr>
          <a:xfrm>
            <a:off x="7549298" y="3639548"/>
            <a:ext cx="1749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/>
              <a:t>a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2316BF9-D3B3-DAEF-3105-B058C683DA5A}"/>
              </a:ext>
            </a:extLst>
          </p:cNvPr>
          <p:cNvSpPr txBox="1"/>
          <p:nvPr/>
        </p:nvSpPr>
        <p:spPr>
          <a:xfrm>
            <a:off x="10847546" y="3638346"/>
            <a:ext cx="1749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/>
              <a:t>b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CA673E4-C47D-204A-0FD1-B64AE8ADD404}"/>
              </a:ext>
            </a:extLst>
          </p:cNvPr>
          <p:cNvSpPr txBox="1"/>
          <p:nvPr/>
        </p:nvSpPr>
        <p:spPr>
          <a:xfrm>
            <a:off x="9275797" y="5888325"/>
            <a:ext cx="1749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/>
              <a:t>C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6F12ECD-C7B3-FDB8-044C-006F97786B94}"/>
              </a:ext>
            </a:extLst>
          </p:cNvPr>
          <p:cNvSpPr txBox="1"/>
          <p:nvPr/>
        </p:nvSpPr>
        <p:spPr>
          <a:xfrm>
            <a:off x="7481509" y="6165625"/>
            <a:ext cx="35885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900"/>
              <a:t>a) Disturbance b) Average rewards vs. time c) RL vs. MPC for last episode</a:t>
            </a:r>
          </a:p>
        </p:txBody>
      </p:sp>
    </p:spTree>
    <p:extLst>
      <p:ext uri="{BB962C8B-B14F-4D97-AF65-F5344CB8AC3E}">
        <p14:creationId xmlns:p14="http://schemas.microsoft.com/office/powerpoint/2010/main" val="3925876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B81F2-C7CC-A2F3-DB14-E93C0B55D1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01797"/>
            <a:ext cx="12230100" cy="660721"/>
          </a:xfrm>
          <a:solidFill>
            <a:srgbClr val="EEEEEE"/>
          </a:solidFill>
        </p:spPr>
        <p:txBody>
          <a:bodyPr>
            <a:noAutofit/>
          </a:bodyPr>
          <a:lstStyle/>
          <a:p>
            <a:r>
              <a:rPr lang="en-CA" sz="4400"/>
              <a:t>Fault Detection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BD5C36-1E5D-C7E1-9D24-D03DC93548B6}"/>
              </a:ext>
            </a:extLst>
          </p:cNvPr>
          <p:cNvSpPr/>
          <p:nvPr/>
        </p:nvSpPr>
        <p:spPr>
          <a:xfrm>
            <a:off x="0" y="0"/>
            <a:ext cx="12192000" cy="301797"/>
          </a:xfrm>
          <a:prstGeom prst="rect">
            <a:avLst/>
          </a:prstGeom>
          <a:solidFill>
            <a:srgbClr val="203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689501-4B57-857B-805A-E82E50C58143}"/>
              </a:ext>
            </a:extLst>
          </p:cNvPr>
          <p:cNvSpPr/>
          <p:nvPr/>
        </p:nvSpPr>
        <p:spPr>
          <a:xfrm>
            <a:off x="0" y="6556203"/>
            <a:ext cx="6096000" cy="301797"/>
          </a:xfrm>
          <a:prstGeom prst="rect">
            <a:avLst/>
          </a:prstGeom>
          <a:solidFill>
            <a:srgbClr val="203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6D5EE5-99AF-7DC9-573D-BCF1A25DEAEC}"/>
              </a:ext>
            </a:extLst>
          </p:cNvPr>
          <p:cNvSpPr/>
          <p:nvPr/>
        </p:nvSpPr>
        <p:spPr>
          <a:xfrm>
            <a:off x="6096000" y="6556203"/>
            <a:ext cx="6096000" cy="30179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25CD69-47F3-9E7F-7DB2-1A30C2F2D544}"/>
              </a:ext>
            </a:extLst>
          </p:cNvPr>
          <p:cNvSpPr txBox="1"/>
          <p:nvPr/>
        </p:nvSpPr>
        <p:spPr>
          <a:xfrm>
            <a:off x="4473345" y="-36757"/>
            <a:ext cx="3245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>
                <a:solidFill>
                  <a:schemeClr val="bg1"/>
                </a:solidFill>
              </a:rPr>
              <a:t>Hybrid first-principle and data-driven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AB6F99-0279-92F2-60B1-78F37DEB3D75}"/>
              </a:ext>
            </a:extLst>
          </p:cNvPr>
          <p:cNvSpPr txBox="1"/>
          <p:nvPr/>
        </p:nvSpPr>
        <p:spPr>
          <a:xfrm>
            <a:off x="9626600" y="6537824"/>
            <a:ext cx="2565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/>
              <a:t>MACC Annual Meeting 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611581-4F6C-685F-4C67-45FB5C1C68B7}"/>
              </a:ext>
            </a:extLst>
          </p:cNvPr>
          <p:cNvSpPr txBox="1"/>
          <p:nvPr/>
        </p:nvSpPr>
        <p:spPr>
          <a:xfrm>
            <a:off x="0" y="6535092"/>
            <a:ext cx="46863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>
                <a:solidFill>
                  <a:schemeClr val="bg1"/>
                </a:solidFill>
              </a:rPr>
              <a:t>Amir Hossein Hamedi Supervisor: Dr. Mhaskar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859F55-D2A8-4109-142F-8A8CBCA90DBD}"/>
              </a:ext>
            </a:extLst>
          </p:cNvPr>
          <p:cNvSpPr txBox="1"/>
          <p:nvPr/>
        </p:nvSpPr>
        <p:spPr>
          <a:xfrm>
            <a:off x="57889" y="1026313"/>
            <a:ext cx="5954983" cy="646986"/>
          </a:xfrm>
          <a:prstGeom prst="roundRect">
            <a:avLst/>
          </a:prstGeom>
          <a:solidFill>
            <a:srgbClr val="DAE3F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1600">
                <a:latin typeface="Segoe UI" panose="020B0502040204020203" pitchFamily="34" charset="0"/>
                <a:ea typeface="Calibri" panose="020F0502020204030204" pitchFamily="34" charset="0"/>
              </a:rPr>
              <a:t>ODEs Distillation column Hydraulic for first-principle</a:t>
            </a:r>
          </a:p>
          <a:p>
            <a:pPr lvl="0"/>
            <a:endParaRPr lang="en-CA" sz="1600">
              <a:effectLst/>
              <a:latin typeface="Segoe UI" panose="020B0502040204020203" pitchFamily="34" charset="0"/>
              <a:ea typeface="Calibri" panose="020F050202020403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80DD191-EBE5-B36B-E9EA-0AAD2F3990E4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6096000" y="962518"/>
            <a:ext cx="19050" cy="5593685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2FD1286-3F11-A9E9-4C8A-5DF8173FA906}"/>
              </a:ext>
            </a:extLst>
          </p:cNvPr>
          <p:cNvSpPr txBox="1"/>
          <p:nvPr/>
        </p:nvSpPr>
        <p:spPr>
          <a:xfrm>
            <a:off x="6166508" y="1026313"/>
            <a:ext cx="5954983" cy="646986"/>
          </a:xfrm>
          <a:prstGeom prst="roundRect">
            <a:avLst/>
          </a:prstGeom>
          <a:solidFill>
            <a:srgbClr val="DAE3F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1600">
                <a:latin typeface="Segoe UI" panose="020B0502040204020203" pitchFamily="34" charset="0"/>
                <a:ea typeface="Calibri" panose="020F0502020204030204" pitchFamily="34" charset="0"/>
              </a:rPr>
              <a:t>Proposed Approach</a:t>
            </a:r>
          </a:p>
          <a:p>
            <a:pPr lvl="0"/>
            <a:endParaRPr lang="en-CA" sz="1600">
              <a:effectLst/>
              <a:latin typeface="Segoe UI" panose="020B0502040204020203" pitchFamily="34" charset="0"/>
              <a:ea typeface="Calibri" panose="020F050202020403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68990DD-DEA3-E1F7-854F-538EA5FDE4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178" y="1737094"/>
            <a:ext cx="5877925" cy="47389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4D1C8EB2-5C54-BFF6-3A84-064207FACA6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9974517"/>
                  </p:ext>
                </p:extLst>
              </p:nvPr>
            </p:nvGraphicFramePr>
            <p:xfrm>
              <a:off x="172193" y="1737094"/>
              <a:ext cx="5751614" cy="4787149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1527958">
                      <a:extLst>
                        <a:ext uri="{9D8B030D-6E8A-4147-A177-3AD203B41FA5}">
                          <a16:colId xmlns:a16="http://schemas.microsoft.com/office/drawing/2014/main" val="2477261495"/>
                        </a:ext>
                      </a:extLst>
                    </a:gridCol>
                    <a:gridCol w="4223656">
                      <a:extLst>
                        <a:ext uri="{9D8B030D-6E8A-4147-A177-3AD203B41FA5}">
                          <a16:colId xmlns:a16="http://schemas.microsoft.com/office/drawing/2014/main" val="2489984770"/>
                        </a:ext>
                      </a:extLst>
                    </a:gridCol>
                  </a:tblGrid>
                  <a:tr h="557498">
                    <a:tc>
                      <a:txBody>
                        <a:bodyPr/>
                        <a:lstStyle/>
                        <a:p>
                          <a:r>
                            <a:rPr lang="en-CA" sz="1050" b="1"/>
                            <a:t>Francis Weir Flow Law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CA" sz="1000" b="0" i="1" u="none" strike="noStrike" kern="1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0" lang="en-CA" sz="1000" b="0" i="1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kumimoji="0" lang="en-CA" sz="1000" b="0" i="1" u="none" strike="noStrike" kern="1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0,</m:t>
                                          </m:r>
                                        </m:e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kumimoji="0" lang="en-CA" sz="1000" b="0" i="0" u="none" strike="noStrike" kern="1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Aptos" panose="020B0004020202020204" pitchFamily="34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if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kumimoji="0" lang="en-CA" sz="1000" b="0" i="0" u="none" strike="noStrike" kern="1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Aptos" panose="020B0004020202020204" pitchFamily="34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 </m:t>
                                          </m:r>
                                          <m:sSub>
                                            <m:sSubPr>
                                              <m:ctrlP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𝑓</m:t>
                                              </m:r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kumimoji="0" lang="en-CA" sz="1000" b="0" i="1" u="none" strike="noStrike" kern="1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≤</m:t>
                                          </m:r>
                                          <m:sSub>
                                            <m:sSubPr>
                                              <m:ctrlP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kumimoji="0" lang="en-CA" sz="1000" b="0" i="0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weir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f>
                                            <m:fPr>
                                              <m:ctrlP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2</m:t>
                                              </m:r>
                                            </m:num>
                                            <m:den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3</m:t>
                                              </m:r>
                                            </m:den>
                                          </m:f>
                                          <m:sSub>
                                            <m:sSubPr>
                                              <m:ctrlP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kumimoji="0" lang="en-CA" sz="1000" b="0" i="0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weir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𝓁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kumimoji="0" lang="en-CA" sz="1000" b="0" i="0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weir</m:t>
                                              </m:r>
                                            </m:sub>
                                          </m:sSub>
                                          <m:rad>
                                            <m:radPr>
                                              <m:degHide m:val="on"/>
                                              <m:ctrlP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radPr>
                                            <m:deg/>
                                            <m:e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𝑔</m:t>
                                              </m:r>
                                            </m:e>
                                          </m:rad>
                                          <m:r>
                                            <a:rPr kumimoji="0" lang="en-CA" sz="1000" b="0" i="1" u="none" strike="noStrike" kern="1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(</m:t>
                                          </m:r>
                                          <m:sSub>
                                            <m:sSubPr>
                                              <m:ctrlP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𝑓</m:t>
                                              </m:r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kumimoji="0" lang="en-CA" sz="1000" b="0" i="1" u="none" strike="noStrike" kern="1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kumimoji="0" lang="en-CA" sz="1000" b="0" i="0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weir</m:t>
                                              </m:r>
                                            </m:sub>
                                          </m:sSub>
                                          <m:sSup>
                                            <m:sSupPr>
                                              <m:ctrlP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)</m:t>
                                              </m:r>
                                            </m:e>
                                            <m:sup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1.5</m:t>
                                              </m:r>
                                            </m:sup>
                                          </m:sSup>
                                          <m:r>
                                            <a:rPr kumimoji="0" lang="en-CA" sz="1000" b="0" i="1" u="none" strike="noStrike" kern="1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kumimoji="0" lang="en-CA" sz="1000" b="0" i="0" u="none" strike="noStrike" kern="1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Aptos" panose="020B0004020202020204" pitchFamily="34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if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kumimoji="0" lang="en-CA" sz="1000" b="0" i="0" u="none" strike="noStrike" kern="1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Aptos" panose="020B0004020202020204" pitchFamily="34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 </m:t>
                                          </m:r>
                                          <m:sSub>
                                            <m:sSubPr>
                                              <m:ctrlP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𝑓</m:t>
                                              </m:r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kumimoji="0" lang="en-CA" sz="1000" b="0" i="1" u="none" strike="noStrike" kern="1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&gt;</m:t>
                                          </m:r>
                                          <m:sSub>
                                            <m:sSubPr>
                                              <m:ctrlP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kumimoji="0" lang="en-CA" sz="1000" b="0" i="0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weir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CA" sz="1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995578515"/>
                      </a:ext>
                    </a:extLst>
                  </a:tr>
                  <a:tr h="430147">
                    <a:tc>
                      <a:txBody>
                        <a:bodyPr/>
                        <a:lstStyle/>
                        <a:p>
                          <a:r>
                            <a:rPr lang="en-CA" sz="1050" b="1"/>
                            <a:t>Froth Level (Aerated)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CA" sz="1000" b="0" i="1" u="none" strike="noStrike" kern="1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0" lang="en-CA" sz="1000" b="0" i="1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kumimoji="0" lang="en-CA" sz="1000" b="0" i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f</m:t>
                                        </m:r>
                                      </m:sub>
                                    </m:sSub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𝑣</m:t>
                                        </m:r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,</m:t>
                                        </m:r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p>
                                      <m:sSupPr>
                                        <m:ctrlP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sSub>
                                          <m:sSubPr>
                                            <m:ctrlPr>
                                              <a:rPr kumimoji="0" lang="en-CA" sz="1000" b="0" i="1" u="none" strike="noStrike" kern="1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0" lang="en-CA" sz="1000" b="0" i="1" u="none" strike="noStrike" kern="1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Arial" panose="020B0604020202020204" pitchFamily="34" charset="0"/>
                                              </a:rPr>
                                              <m:t>𝐵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kumimoji="0" lang="en-CA" sz="1000" b="0" i="0" u="none" strike="noStrike" kern="1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Arial" panose="020B0604020202020204" pitchFamily="34" charset="0"/>
                                              </a:rPr>
                                              <m:t>f</m:t>
                                            </m:r>
                                          </m:sub>
                                        </m:sSub>
                                      </m:sup>
                                    </m:sSup>
                                  </m:num>
                                  <m:den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1+</m:t>
                                    </m:r>
                                    <m:sSub>
                                      <m:sSubPr>
                                        <m:ctrlP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kumimoji="0" lang="en-CA" sz="1000" b="0" i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f</m:t>
                                        </m:r>
                                      </m:sub>
                                    </m:sSub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𝑣</m:t>
                                        </m:r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,</m:t>
                                        </m:r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p>
                                      <m:sSupPr>
                                        <m:ctrlP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sSub>
                                          <m:sSubPr>
                                            <m:ctrlPr>
                                              <a:rPr kumimoji="0" lang="en-CA" sz="1000" b="0" i="1" u="none" strike="noStrike" kern="1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0" lang="en-CA" sz="1000" b="0" i="1" u="none" strike="noStrike" kern="1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Arial" panose="020B0604020202020204" pitchFamily="34" charset="0"/>
                                              </a:rPr>
                                              <m:t>𝐵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kumimoji="0" lang="en-CA" sz="1000" b="0" i="0" u="none" strike="noStrike" kern="1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Arial" panose="020B0604020202020204" pitchFamily="34" charset="0"/>
                                              </a:rPr>
                                              <m:t>f</m:t>
                                            </m:r>
                                          </m:sub>
                                        </m:sSub>
                                      </m:sup>
                                    </m:sSup>
                                  </m:den>
                                </m:f>
                                <m:r>
                                  <m:rPr>
                                    <m:nor/>
                                  </m:rPr>
                                  <a:rPr kumimoji="0" lang="en-CA" sz="1000" b="0" i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kumimoji="0" lang="en-CA" sz="1000" b="0" i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Aptos" panose="020B0004020202020204" pitchFamily="34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and</m:t>
                                </m:r>
                                <m:sSub>
                                  <m:sSubPr>
                                    <m:ctrlP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 </m:t>
                                    </m:r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𝑓</m:t>
                                    </m:r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,</m:t>
                                    </m:r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0" lang="en-CA" sz="1000" b="0" i="1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𝜖</m:t>
                                        </m:r>
                                      </m:e>
                                      <m:sub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CA" sz="1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04952312"/>
                      </a:ext>
                    </a:extLst>
                  </a:tr>
                  <a:tr h="430147">
                    <a:tc>
                      <a:txBody>
                        <a:bodyPr/>
                        <a:lstStyle/>
                        <a:p>
                          <a:r>
                            <a:rPr lang="en-CA" sz="1050" b="1"/>
                            <a:t>Vapor Flow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CA" sz="1000" b="0" i="1" u="none" strike="noStrike" kern="1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0" lang="en-CA" sz="1000" b="0" i="1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𝑉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kumimoji="0" lang="en-CA" sz="1000" b="0" i="0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Aptos" panose="020B0004020202020204" pitchFamily="34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above</m:t>
                                              </m:r>
                                            </m:sub>
                                          </m:sSub>
                                          <m:r>
                                            <a:rPr kumimoji="0" lang="en-CA" sz="1000" b="0" i="1" u="none" strike="noStrike" kern="1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kumimoji="0" lang="en-CA" sz="1000" b="0" i="0" u="none" strike="noStrike" kern="1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Aptos" panose="020B0004020202020204" pitchFamily="34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if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kumimoji="0" lang="en-CA" sz="1000" b="0" i="0" u="none" strike="noStrike" kern="1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Aptos" panose="020B0004020202020204" pitchFamily="34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 </m:t>
                                          </m:r>
                                          <m:r>
                                            <a:rPr kumimoji="0" lang="en-CA" sz="1000" b="0" i="1" u="none" strike="noStrike" kern="1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𝑖</m:t>
                                          </m:r>
                                          <m:r>
                                            <a:rPr kumimoji="0" lang="en-CA" sz="1000" b="0" i="1" u="none" strike="noStrike" kern="1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≤</m:t>
                                          </m:r>
                                          <m:sSub>
                                            <m:sSubPr>
                                              <m:ctrlP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𝐹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𝑉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kumimoji="0" lang="en-CA" sz="1000" b="0" i="0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Aptos" panose="020B0004020202020204" pitchFamily="34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below</m:t>
                                              </m:r>
                                            </m:sub>
                                          </m:sSub>
                                          <m:r>
                                            <a:rPr kumimoji="0" lang="en-CA" sz="1000" b="0" i="1" u="none" strike="noStrike" kern="1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kumimoji="0" lang="en-CA" sz="1000" b="0" i="0" u="none" strike="noStrike" kern="1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Aptos" panose="020B0004020202020204" pitchFamily="34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if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kumimoji="0" lang="en-CA" sz="1000" b="0" i="0" u="none" strike="noStrike" kern="1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Aptos" panose="020B0004020202020204" pitchFamily="34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 </m:t>
                                          </m:r>
                                          <m:r>
                                            <a:rPr kumimoji="0" lang="en-CA" sz="1000" b="0" i="1" u="none" strike="noStrike" kern="1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𝑖</m:t>
                                          </m:r>
                                          <m:r>
                                            <a:rPr kumimoji="0" lang="en-CA" sz="1000" b="0" i="1" u="none" strike="noStrike" kern="1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&gt;</m:t>
                                          </m:r>
                                          <m:sSub>
                                            <m:sSubPr>
                                              <m:ctrlP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𝐹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d>
                                <m:r>
                                  <a:rPr kumimoji="0" lang="en-CA" sz="1000" b="0" i="1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  <m:r>
                                  <a:rPr kumimoji="0" lang="en-CA" sz="1000" b="0" i="1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𝑎𝑛𝑑</m:t>
                                </m:r>
                                <m:r>
                                  <a:rPr kumimoji="0" lang="en-CA" sz="1000" b="0" i="1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𝑣</m:t>
                                    </m:r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,</m:t>
                                    </m:r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0" lang="en-CA" sz="1000" b="0" i="1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kumimoji="0" lang="en-CA" sz="1000" b="0" i="0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tray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CA" sz="1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37337910"/>
                      </a:ext>
                    </a:extLst>
                  </a:tr>
                  <a:tr h="473309">
                    <a:tc>
                      <a:txBody>
                        <a:bodyPr/>
                        <a:lstStyle/>
                        <a:p>
                          <a:r>
                            <a:rPr lang="en-CA" sz="1050" b="1"/>
                            <a:t>Down-comer out flow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CA" sz="1000" b="0" i="1" u="none" strike="noStrike" kern="1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0" lang="en-CA" sz="1000" b="0" i="1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𝑑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𝑜</m:t>
                                              </m:r>
                                            </m:sub>
                                          </m:sSub>
                                          <m:rad>
                                            <m:radPr>
                                              <m:degHide m:val="on"/>
                                              <m:ctrlP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radPr>
                                            <m:deg/>
                                            <m:e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𝑔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kumimoji="0" lang="en-CA" sz="1000" b="0" i="0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Δ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kumimoji="0" lang="en-CA" sz="1000" b="0" i="1" u="none" strike="noStrike" kern="1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Times New Roman" panose="02020603050405020304" pitchFamily="18" charset="0"/>
                                                      <a:cs typeface="Arial" panose="020B0604020202020204" pitchFamily="34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en-CA" sz="1000" b="0" i="1" u="none" strike="noStrike" kern="1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Times New Roman" panose="02020603050405020304" pitchFamily="18" charset="0"/>
                                                      <a:cs typeface="Arial" panose="020B0604020202020204" pitchFamily="34" charset="0"/>
                                                    </a:rPr>
                                                    <m:t>h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en-CA" sz="1000" b="0" i="1" u="none" strike="noStrike" kern="1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Times New Roman" panose="02020603050405020304" pitchFamily="18" charset="0"/>
                                                      <a:cs typeface="Arial" panose="020B0604020202020204" pitchFamily="34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rad>
                                          <m:r>
                                            <a:rPr kumimoji="0" lang="en-CA" sz="1000" b="0" i="1" u="none" strike="noStrike" kern="1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kumimoji="0" lang="en-CA" sz="1000" b="0" i="0" u="none" strike="noStrike" kern="1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Aptos" panose="020B0004020202020204" pitchFamily="34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if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kumimoji="0" lang="en-CA" sz="1000" b="0" i="0" u="none" strike="noStrike" kern="1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Aptos" panose="020B0004020202020204" pitchFamily="34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 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kumimoji="0" lang="en-CA" sz="1000" b="0" i="0" u="none" strike="noStrike" kern="1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Δ</m:t>
                                          </m:r>
                                          <m:sSub>
                                            <m:sSubPr>
                                              <m:ctrlP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kumimoji="0" lang="en-CA" sz="1000" b="0" i="1" u="none" strike="noStrike" kern="1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&gt;0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kumimoji="0" lang="en-CA" sz="1000" b="0" i="1" u="none" strike="noStrike" kern="1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0,</m:t>
                                          </m:r>
                                        </m:e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kumimoji="0" lang="en-CA" sz="1000" b="0" i="0" u="none" strike="noStrike" kern="1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Aptos" panose="020B0004020202020204" pitchFamily="34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if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kumimoji="0" lang="en-CA" sz="1000" b="0" i="0" u="none" strike="noStrike" kern="1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Aptos" panose="020B0004020202020204" pitchFamily="34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 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kumimoji="0" lang="en-CA" sz="1000" b="0" i="0" u="none" strike="noStrike" kern="1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Δ</m:t>
                                          </m:r>
                                          <m:sSub>
                                            <m:sSubPr>
                                              <m:ctrlP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kumimoji="0" lang="en-CA" sz="1000" b="0" i="1" u="none" strike="noStrike" kern="1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≤0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kumimoji="0" lang="en-CA" sz="1000" b="0" i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kumimoji="0" lang="en-CA" sz="1000" b="0" i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Aptos" panose="020B0004020202020204" pitchFamily="34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where</m:t>
                                </m:r>
                                <m:r>
                                  <m:rPr>
                                    <m:nor/>
                                  </m:rPr>
                                  <a:rPr kumimoji="0" lang="en-CA" sz="1000" b="0" i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kumimoji="0" lang="en-CA" sz="1000" b="0" i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0" lang="en-CA" sz="1000" b="0" i="1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kumimoji="0" lang="en-CA" sz="1000" b="0" i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dc</m:t>
                                    </m:r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,</m:t>
                                    </m:r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0" lang="en-CA" sz="1000" b="0" i="1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𝑓</m:t>
                                    </m:r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,</m:t>
                                    </m:r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A" sz="1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6516078"/>
                      </a:ext>
                    </a:extLst>
                  </a:tr>
                  <a:tr h="473309">
                    <a:tc>
                      <a:txBody>
                        <a:bodyPr/>
                        <a:lstStyle/>
                        <a:p>
                          <a:r>
                            <a:rPr lang="en-CA" sz="1050" b="1"/>
                            <a:t>Effective Liquid Flow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CA" sz="1000" b="0" i="1" u="none" strike="noStrike" kern="1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limUpp>
                                      <m:limUppPr>
                                        <m:ctrlP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𝑖</m:t>
                                        </m:r>
                                      </m:e>
                                      <m:lim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~</m:t>
                                        </m:r>
                                      </m:lim>
                                    </m:limUpp>
                                  </m:sub>
                                </m:sSub>
                                <m:r>
                                  <a:rPr kumimoji="0" lang="en-CA" sz="1000" b="0" i="1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𝐿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kumimoji="0" lang="en-CA" sz="1000" b="0" i="1" u="none" strike="noStrike" kern="1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kumimoji="0" lang="en-CA" sz="1000" b="0" i="0" u="none" strike="noStrike" kern="1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Aptos" panose="020B0004020202020204" pitchFamily="34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if</m:t>
                                          </m:r>
                                          <m:sSub>
                                            <m:sSubPr>
                                              <m:ctrlP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𝑉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𝑑</m:t>
                                              </m:r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kumimoji="0" lang="en-CA" sz="1000" b="0" i="1" u="none" strike="noStrike" kern="1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&lt;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𝑉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𝐷</m:t>
                                              </m:r>
                                            </m:sub>
                                            <m:sup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𝑚𝑎𝑥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kumimoji="0" lang="en-CA" sz="1000" b="0" i="1" u="none" strike="noStrike" kern="1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𝑚𝑖𝑛</m:t>
                                          </m:r>
                                          <m:r>
                                            <a:rPr kumimoji="0" lang="en-CA" sz="1000" b="0" i="1" u="none" strike="noStrike" kern="1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(</m:t>
                                          </m:r>
                                          <m:sSub>
                                            <m:sSubPr>
                                              <m:ctrlP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𝐿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kumimoji="0" lang="en-CA" sz="1000" b="0" i="1" u="none" strike="noStrike" kern="1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𝐷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kumimoji="0" lang="en-CA" sz="1000" b="0" i="1" u="none" strike="noStrike" kern="1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),</m:t>
                                          </m:r>
                                        </m:e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kumimoji="0" lang="en-CA" sz="1000" b="0" i="0" u="none" strike="noStrike" kern="1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Aptos" panose="020B0004020202020204" pitchFamily="34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if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kumimoji="0" lang="en-CA" sz="1000" b="0" i="0" u="none" strike="noStrike" kern="1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 </m:t>
                                          </m:r>
                                          <m:sSub>
                                            <m:sSubPr>
                                              <m:ctrlP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𝑉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𝑑</m:t>
                                              </m:r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kumimoji="0" lang="en-CA" sz="1000" b="0" i="1" u="none" strike="noStrike" kern="1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≥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𝑉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𝐷</m:t>
                                              </m:r>
                                            </m:sub>
                                            <m:sup>
                                              <m:r>
                                                <a:rPr kumimoji="0" lang="en-CA" sz="1000" b="0" i="1" u="none" strike="noStrike" kern="1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𝑚𝑎𝑥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CA" sz="1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07965761"/>
                      </a:ext>
                    </a:extLst>
                  </a:tr>
                  <a:tr h="430147">
                    <a:tc>
                      <a:txBody>
                        <a:bodyPr/>
                        <a:lstStyle/>
                        <a:p>
                          <a:r>
                            <a:rPr lang="en-CA" sz="1050" b="1"/>
                            <a:t>System of ODEs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orderBox>
                                  <m:borderBoxPr>
                                    <m:ctrlPr>
                                      <a:rPr kumimoji="0" lang="en-CA" sz="1000" b="0" i="1" u="none" strike="noStrike" kern="1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borderBoxPr>
                                  <m:e>
                                    <m:sSub>
                                      <m:sSubPr>
                                        <m:ctrlP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(</m:t>
                                    </m:r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𝑡</m:t>
                                    </m:r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)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kumimoji="0" lang="en-CA" sz="1000" b="0" i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Aptos" panose="020B0004020202020204" pitchFamily="34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for</m:t>
                                    </m:r>
                                    <m:r>
                                      <m:rPr>
                                        <m:nor/>
                                      </m:rPr>
                                      <a:rPr kumimoji="0" lang="en-CA" sz="1000" b="0" i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Aptos" panose="020B0004020202020204" pitchFamily="34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 </m:t>
                                    </m:r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=1,…,</m:t>
                                    </m:r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𝑛</m:t>
                                    </m:r>
                                  </m:e>
                                </m:borderBox>
                                <m:r>
                                  <m:rPr>
                                    <m:nor/>
                                  </m:rPr>
                                  <a:rPr kumimoji="0" lang="en-CA" sz="1000" b="0" i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kumimoji="0" lang="en-CA" sz="1000" b="0" i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Aptos" panose="020B0004020202020204" pitchFamily="34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and</m:t>
                                </m:r>
                                <m:r>
                                  <m:rPr>
                                    <m:nor/>
                                  </m:rPr>
                                  <a:rPr kumimoji="0" lang="en-CA" sz="1000" b="0" i="0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  <m:borderBox>
                                  <m:borderBoxPr>
                                    <m:ctrlP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borderBoxPr>
                                  <m:e>
                                    <m:sSub>
                                      <m:sSubPr>
                                        <m:ctrlP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𝑑</m:t>
                                        </m:r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,</m:t>
                                        </m:r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(</m:t>
                                    </m:r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𝑡</m:t>
                                    </m:r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)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kumimoji="0" lang="en-CA" sz="1000" b="0" i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Aptos" panose="020B0004020202020204" pitchFamily="34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for</m:t>
                                    </m:r>
                                    <m:r>
                                      <m:rPr>
                                        <m:nor/>
                                      </m:rPr>
                                      <a:rPr kumimoji="0" lang="en-CA" sz="1000" b="0" i="0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Aptos" panose="020B0004020202020204" pitchFamily="34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 </m:t>
                                    </m:r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=1,…,</m:t>
                                    </m:r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𝑛</m:t>
                                    </m:r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−1</m:t>
                                    </m:r>
                                  </m:e>
                                </m:borderBox>
                              </m:oMath>
                            </m:oMathPara>
                          </a14:m>
                          <a:endParaRPr lang="en-CA" sz="1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81156358"/>
                      </a:ext>
                    </a:extLst>
                  </a:tr>
                  <a:tr h="430147">
                    <a:tc>
                      <a:txBody>
                        <a:bodyPr/>
                        <a:lstStyle/>
                        <a:p>
                          <a:r>
                            <a:rPr lang="en-CA" sz="1050" b="1"/>
                            <a:t>Top Tray Liquid Height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CA" sz="1000" b="0" i="1" u="none" strike="noStrike" kern="1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kumimoji="0" lang="en-CA" sz="1000" b="0" i="1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𝑇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kumimoji="0" lang="en-CA" sz="1000" b="0" i="1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(</m:t>
                                </m:r>
                                <m:r>
                                  <a:rPr kumimoji="0" lang="en-CA" sz="1000" b="0" i="1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  <m:r>
                                  <a:rPr kumimoji="0" lang="en-CA" sz="1000" b="0" i="1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limUpp>
                                      <m:limUppPr>
                                        <m:ctrlP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1</m:t>
                                        </m:r>
                                      </m:e>
                                      <m:lim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~</m:t>
                                        </m:r>
                                      </m:lim>
                                    </m:limUpp>
                                  </m:sub>
                                </m:sSub>
                                <m:r>
                                  <a:rPr kumimoji="0" lang="en-CA" sz="1000" b="0" i="1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CA" sz="1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89667084"/>
                      </a:ext>
                    </a:extLst>
                  </a:tr>
                  <a:tr h="535916">
                    <a:tc>
                      <a:txBody>
                        <a:bodyPr/>
                        <a:lstStyle/>
                        <a:p>
                          <a:r>
                            <a:rPr lang="en-CA" sz="1050" b="1"/>
                            <a:t>Middle Tray Liquid Height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100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CA" sz="1000" b="0" i="1" u="none" strike="noStrike" kern="1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kumimoji="0" lang="en-CA" sz="1000" b="0" i="1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𝑇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kumimoji="0" lang="en-CA" sz="1000" b="0" i="1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kumimoji="0" lang="en-CA" sz="1000" b="0" i="1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𝑖</m:t>
                                        </m:r>
                                      </m:e>
                                      <m:sub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𝐹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kumimoji="0" lang="en-CA" sz="1000" b="0" i="1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𝐹</m:t>
                                </m:r>
                                <m:r>
                                  <a:rPr kumimoji="0" lang="en-CA" sz="1000" b="0" i="1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limUpp>
                                      <m:limUppPr>
                                        <m:ctrlP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𝑖</m:t>
                                        </m:r>
                                      </m:e>
                                      <m:lim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~</m:t>
                                        </m:r>
                                      </m:lim>
                                    </m:limUpp>
                                  </m:sub>
                                </m:sSub>
                                <m:r>
                                  <a:rPr kumimoji="0" lang="en-CA" sz="1000" b="0" i="1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kumimoji="0" lang="en-CA" sz="1000" b="0" i="0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0B0004020202020204" pitchFamily="34" charset="0"/>
                            <a:ea typeface="Aptos" panose="020B00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11970735"/>
                      </a:ext>
                    </a:extLst>
                  </a:tr>
                  <a:tr h="535916">
                    <a:tc>
                      <a:txBody>
                        <a:bodyPr/>
                        <a:lstStyle/>
                        <a:p>
                          <a:r>
                            <a:rPr lang="en-CA" sz="1050" b="1"/>
                            <a:t>Bottom Tray Liquid Height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100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CA" sz="1000" b="0" i="1" u="none" strike="noStrike" kern="1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kumimoji="0" lang="en-CA" sz="1000" b="0" i="1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𝑇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kumimoji="0" lang="en-CA" sz="1000" b="0" i="1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𝑛</m:t>
                                    </m:r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kumimoji="0" lang="en-CA" sz="1000" b="0" i="1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limUpp>
                                      <m:limUppPr>
                                        <m:ctrlP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𝑛</m:t>
                                        </m:r>
                                      </m:e>
                                      <m:lim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~</m:t>
                                        </m:r>
                                      </m:lim>
                                    </m:limUpp>
                                  </m:sub>
                                </m:sSub>
                                <m:r>
                                  <a:rPr kumimoji="0" lang="en-CA" sz="1000" b="0" i="1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kumimoji="0" lang="en-CA" sz="1000" b="0" i="0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0B0004020202020204" pitchFamily="34" charset="0"/>
                            <a:ea typeface="Aptos" panose="020B00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4101440"/>
                      </a:ext>
                    </a:extLst>
                  </a:tr>
                  <a:tr h="430147">
                    <a:tc>
                      <a:txBody>
                        <a:bodyPr/>
                        <a:lstStyle/>
                        <a:p>
                          <a:r>
                            <a:rPr lang="en-CA" sz="1050" b="1"/>
                            <a:t>Down-comer Filling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CA" sz="1000" b="0" i="1" u="none" strike="noStrike" kern="1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𝑑</m:t>
                                        </m:r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,</m:t>
                                        </m:r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kumimoji="0" lang="en-CA" sz="1000" b="0" i="1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limUpp>
                                      <m:limUppPr>
                                        <m:ctrlP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𝑖</m:t>
                                        </m:r>
                                      </m:e>
                                      <m:lim>
                                        <m:r>
                                          <a:rPr kumimoji="0" lang="en-CA" sz="1000" b="0" i="1" u="none" strike="noStrike" kern="1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~</m:t>
                                        </m:r>
                                      </m:lim>
                                    </m:limUpp>
                                  </m:sub>
                                </m:sSub>
                                <m:r>
                                  <a:rPr kumimoji="0" lang="en-CA" sz="1000" b="0" i="1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kumimoji="0" lang="en-CA" sz="1000" b="0" i="1" u="none" strike="noStrike" kern="1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0" lang="en-CA" sz="1000" b="0" i="1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,  </m:t>
                                </m:r>
                                <m:r>
                                  <a:rPr kumimoji="0" lang="en-CA" sz="1000" b="0" i="1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𝑖</m:t>
                                </m:r>
                                <m:r>
                                  <a:rPr kumimoji="0" lang="en-CA" sz="1000" b="0" i="1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=1,…,</m:t>
                                </m:r>
                                <m:r>
                                  <a:rPr kumimoji="0" lang="en-CA" sz="1000" b="0" i="1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  <m:r>
                                  <a:rPr kumimoji="0" lang="en-CA" sz="1000" b="0" i="1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CA" sz="1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630278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4D1C8EB2-5C54-BFF6-3A84-064207FACA6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9974517"/>
                  </p:ext>
                </p:extLst>
              </p:nvPr>
            </p:nvGraphicFramePr>
            <p:xfrm>
              <a:off x="172193" y="1737094"/>
              <a:ext cx="5751614" cy="4914531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1527958">
                      <a:extLst>
                        <a:ext uri="{9D8B030D-6E8A-4147-A177-3AD203B41FA5}">
                          <a16:colId xmlns:a16="http://schemas.microsoft.com/office/drawing/2014/main" val="2477261495"/>
                        </a:ext>
                      </a:extLst>
                    </a:gridCol>
                    <a:gridCol w="4223656">
                      <a:extLst>
                        <a:ext uri="{9D8B030D-6E8A-4147-A177-3AD203B41FA5}">
                          <a16:colId xmlns:a16="http://schemas.microsoft.com/office/drawing/2014/main" val="2489984770"/>
                        </a:ext>
                      </a:extLst>
                    </a:gridCol>
                  </a:tblGrid>
                  <a:tr h="655765">
                    <a:tc>
                      <a:txBody>
                        <a:bodyPr/>
                        <a:lstStyle/>
                        <a:p>
                          <a:r>
                            <a:rPr lang="en-CA" sz="1050" b="1"/>
                            <a:t>Francis Weir Flow Law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36219" t="-926" r="-144" b="-6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5578515"/>
                      </a:ext>
                    </a:extLst>
                  </a:tr>
                  <a:tr h="434785">
                    <a:tc>
                      <a:txBody>
                        <a:bodyPr/>
                        <a:lstStyle/>
                        <a:p>
                          <a:r>
                            <a:rPr lang="en-CA" sz="1050" b="1"/>
                            <a:t>Froth Level (Aerated)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219" t="-153521" r="-144" b="-8887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4952312"/>
                      </a:ext>
                    </a:extLst>
                  </a:tr>
                  <a:tr h="487236">
                    <a:tc>
                      <a:txBody>
                        <a:bodyPr/>
                        <a:lstStyle/>
                        <a:p>
                          <a:r>
                            <a:rPr lang="en-CA" sz="1050" b="1"/>
                            <a:t>Vapor Flow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219" t="-225000" r="-144" b="-688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7337910"/>
                      </a:ext>
                    </a:extLst>
                  </a:tr>
                  <a:tr h="487236">
                    <a:tc>
                      <a:txBody>
                        <a:bodyPr/>
                        <a:lstStyle/>
                        <a:p>
                          <a:r>
                            <a:rPr lang="en-CA" sz="1050" b="1"/>
                            <a:t>Down-comer out flow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219" t="-320988" r="-144" b="-5802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516078"/>
                      </a:ext>
                    </a:extLst>
                  </a:tr>
                  <a:tr h="487236">
                    <a:tc>
                      <a:txBody>
                        <a:bodyPr/>
                        <a:lstStyle/>
                        <a:p>
                          <a:r>
                            <a:rPr lang="en-CA" sz="1050" b="1"/>
                            <a:t>Effective Liquid Flow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219" t="-426250" r="-144" b="-487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7965761"/>
                      </a:ext>
                    </a:extLst>
                  </a:tr>
                  <a:tr h="430147">
                    <a:tc>
                      <a:txBody>
                        <a:bodyPr/>
                        <a:lstStyle/>
                        <a:p>
                          <a:r>
                            <a:rPr lang="en-CA" sz="1050" b="1"/>
                            <a:t>System of ODEs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219" t="-601429" r="-144" b="-45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1156358"/>
                      </a:ext>
                    </a:extLst>
                  </a:tr>
                  <a:tr h="430147">
                    <a:tc>
                      <a:txBody>
                        <a:bodyPr/>
                        <a:lstStyle/>
                        <a:p>
                          <a:r>
                            <a:rPr lang="en-CA" sz="1050" b="1"/>
                            <a:t>Top Tray Liquid Height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219" t="-691549" r="-144" b="-350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9667084"/>
                      </a:ext>
                    </a:extLst>
                  </a:tr>
                  <a:tr h="535916">
                    <a:tc>
                      <a:txBody>
                        <a:bodyPr/>
                        <a:lstStyle/>
                        <a:p>
                          <a:r>
                            <a:rPr lang="en-CA" sz="1050" b="1"/>
                            <a:t>Middle Tray Liquid Height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219" t="-638636" r="-144" b="-1829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1970735"/>
                      </a:ext>
                    </a:extLst>
                  </a:tr>
                  <a:tr h="535916">
                    <a:tc>
                      <a:txBody>
                        <a:bodyPr/>
                        <a:lstStyle/>
                        <a:p>
                          <a:r>
                            <a:rPr lang="en-CA" sz="1050" b="1"/>
                            <a:t>Bottom Tray Liquid Height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219" t="-738636" r="-144" b="-829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101440"/>
                      </a:ext>
                    </a:extLst>
                  </a:tr>
                  <a:tr h="430147">
                    <a:tc>
                      <a:txBody>
                        <a:bodyPr/>
                        <a:lstStyle/>
                        <a:p>
                          <a:r>
                            <a:rPr lang="en-CA" sz="1050" b="1"/>
                            <a:t>Down-comer Filling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219" t="-1039437" r="-144" b="-28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302784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02143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BD5C36-1E5D-C7E1-9D24-D03DC93548B6}"/>
              </a:ext>
            </a:extLst>
          </p:cNvPr>
          <p:cNvSpPr/>
          <p:nvPr/>
        </p:nvSpPr>
        <p:spPr>
          <a:xfrm>
            <a:off x="0" y="0"/>
            <a:ext cx="12192000" cy="301797"/>
          </a:xfrm>
          <a:prstGeom prst="rect">
            <a:avLst/>
          </a:prstGeom>
          <a:solidFill>
            <a:srgbClr val="203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689501-4B57-857B-805A-E82E50C58143}"/>
              </a:ext>
            </a:extLst>
          </p:cNvPr>
          <p:cNvSpPr/>
          <p:nvPr/>
        </p:nvSpPr>
        <p:spPr>
          <a:xfrm>
            <a:off x="0" y="6556203"/>
            <a:ext cx="6096000" cy="301797"/>
          </a:xfrm>
          <a:prstGeom prst="rect">
            <a:avLst/>
          </a:prstGeom>
          <a:solidFill>
            <a:srgbClr val="203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6D5EE5-99AF-7DC9-573D-BCF1A25DEAEC}"/>
              </a:ext>
            </a:extLst>
          </p:cNvPr>
          <p:cNvSpPr/>
          <p:nvPr/>
        </p:nvSpPr>
        <p:spPr>
          <a:xfrm>
            <a:off x="6096000" y="6556203"/>
            <a:ext cx="6096000" cy="30179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25CD69-47F3-9E7F-7DB2-1A30C2F2D544}"/>
              </a:ext>
            </a:extLst>
          </p:cNvPr>
          <p:cNvSpPr txBox="1"/>
          <p:nvPr/>
        </p:nvSpPr>
        <p:spPr>
          <a:xfrm>
            <a:off x="4868600" y="-36757"/>
            <a:ext cx="24547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>
                <a:solidFill>
                  <a:schemeClr val="bg1"/>
                </a:solidFill>
              </a:rPr>
              <a:t>Results and Future Works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AB6F99-0279-92F2-60B1-78F37DEB3D75}"/>
              </a:ext>
            </a:extLst>
          </p:cNvPr>
          <p:cNvSpPr txBox="1"/>
          <p:nvPr/>
        </p:nvSpPr>
        <p:spPr>
          <a:xfrm>
            <a:off x="9626600" y="6537824"/>
            <a:ext cx="2565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/>
              <a:t>MACC Annual Meeting 2025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4A0F604-0D5E-F234-3CD5-473E2F230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0391" y="5488693"/>
            <a:ext cx="1308884" cy="944177"/>
          </a:xfrm>
          <a:prstGeom prst="rect">
            <a:avLst/>
          </a:prstGeom>
        </p:spPr>
      </p:pic>
      <p:pic>
        <p:nvPicPr>
          <p:cNvPr id="15" name="Picture 4" descr="Andrew Cheung, MD MBA | 2 Minute Medicine">
            <a:extLst>
              <a:ext uri="{FF2B5EF4-FFF2-40B4-BE49-F238E27FC236}">
                <a16:creationId xmlns:a16="http://schemas.microsoft.com/office/drawing/2014/main" id="{0A4103D1-99FF-C0DF-11D5-69B787EF7C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8724" y="5389578"/>
            <a:ext cx="1743144" cy="1129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283208C-5B5E-709B-0E43-9E1E7FDBBA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" y="842323"/>
            <a:ext cx="5981202" cy="338708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0269FB0-DE28-8379-90EF-7EBB1123F813}"/>
              </a:ext>
            </a:extLst>
          </p:cNvPr>
          <p:cNvSpPr txBox="1"/>
          <p:nvPr/>
        </p:nvSpPr>
        <p:spPr>
          <a:xfrm>
            <a:off x="156851" y="420671"/>
            <a:ext cx="5792687" cy="408623"/>
          </a:xfrm>
          <a:prstGeom prst="roundRect">
            <a:avLst/>
          </a:prstGeom>
          <a:solidFill>
            <a:srgbClr val="DAE3F3"/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en-US" sz="1800"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Results</a:t>
            </a:r>
            <a:endParaRPr lang="en-CA" sz="1800">
              <a:effectLst/>
              <a:latin typeface="Segoe UI" panose="020B0502040204020203" pitchFamily="34" charset="0"/>
              <a:ea typeface="Calibri" panose="020F050202020403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BB02F4A-3FBD-A52B-9FB1-33D25817F3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55" y="4391191"/>
            <a:ext cx="1570973" cy="157251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980C731-312B-0FB1-B20C-B3CF4DBD8A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437" y="4358371"/>
            <a:ext cx="1570972" cy="1605338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7E37602-8A12-580E-A2F3-0E11B986D6F8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6095999" y="301797"/>
            <a:ext cx="1" cy="6254406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C6D9E286-A579-F115-4097-3BCE0A5537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5409" y="4344461"/>
            <a:ext cx="2804129" cy="166446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320A7C8-6C35-EC96-7B3E-5957E72DC45F}"/>
              </a:ext>
            </a:extLst>
          </p:cNvPr>
          <p:cNvSpPr txBox="1"/>
          <p:nvPr/>
        </p:nvSpPr>
        <p:spPr>
          <a:xfrm>
            <a:off x="2870053" y="3543679"/>
            <a:ext cx="366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/>
              <a:t>a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146DBE5-AE50-B3DA-C067-1D6C9B75984E}"/>
              </a:ext>
            </a:extLst>
          </p:cNvPr>
          <p:cNvCxnSpPr>
            <a:cxnSpLocks/>
          </p:cNvCxnSpPr>
          <p:nvPr/>
        </p:nvCxnSpPr>
        <p:spPr>
          <a:xfrm flipH="1">
            <a:off x="6096000" y="962518"/>
            <a:ext cx="19050" cy="5593685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75820B2-BE55-ED33-F0F0-580C6A181884}"/>
              </a:ext>
            </a:extLst>
          </p:cNvPr>
          <p:cNvSpPr txBox="1"/>
          <p:nvPr/>
        </p:nvSpPr>
        <p:spPr>
          <a:xfrm>
            <a:off x="1471336" y="5926898"/>
            <a:ext cx="366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/>
              <a:t>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F308F5-1A09-F369-7A98-A5A8F3065E47}"/>
              </a:ext>
            </a:extLst>
          </p:cNvPr>
          <p:cNvSpPr txBox="1"/>
          <p:nvPr/>
        </p:nvSpPr>
        <p:spPr>
          <a:xfrm>
            <a:off x="4547473" y="5926898"/>
            <a:ext cx="366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/>
              <a:t>c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4EB779B-D380-F248-3453-2B98DC0CCA1B}"/>
              </a:ext>
            </a:extLst>
          </p:cNvPr>
          <p:cNvSpPr txBox="1"/>
          <p:nvPr/>
        </p:nvSpPr>
        <p:spPr>
          <a:xfrm>
            <a:off x="476936" y="6165625"/>
            <a:ext cx="504701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900"/>
              <a:t>a) SPE Chart for Process Monitoring b) Confusion Matrix c) Score Plot (PC1 vs. PC2)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3DBCD5-F771-3C33-91EC-86749096C858}"/>
              </a:ext>
            </a:extLst>
          </p:cNvPr>
          <p:cNvSpPr txBox="1"/>
          <p:nvPr/>
        </p:nvSpPr>
        <p:spPr>
          <a:xfrm>
            <a:off x="6242461" y="420670"/>
            <a:ext cx="5792687" cy="408623"/>
          </a:xfrm>
          <a:prstGeom prst="roundRect">
            <a:avLst/>
          </a:prstGeom>
          <a:solidFill>
            <a:srgbClr val="DAE3F3"/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en-US" sz="1800"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Ongoing and Future Works</a:t>
            </a:r>
            <a:endParaRPr lang="en-CA" sz="1800">
              <a:effectLst/>
              <a:latin typeface="Segoe UI" panose="020B0502040204020203" pitchFamily="34" charset="0"/>
              <a:ea typeface="Calibri" panose="020F05020202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44B23D4-8B73-FB71-FE9B-E3C04378D6B0}"/>
              </a:ext>
            </a:extLst>
          </p:cNvPr>
          <p:cNvSpPr txBox="1"/>
          <p:nvPr/>
        </p:nvSpPr>
        <p:spPr>
          <a:xfrm>
            <a:off x="6337465" y="1017319"/>
            <a:ext cx="5708072" cy="2247424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CA" b="1"/>
              <a:t>Ongoing: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RL implementation on the distillation column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Applying soft and hard constraints on the RL controller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Test proposed approach on more disturbances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Adding flash calculation to the hydraulics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Improving predicting capability of the fault detection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7E39467-3230-3DE5-5DC0-8EAE0CE92B28}"/>
              </a:ext>
            </a:extLst>
          </p:cNvPr>
          <p:cNvSpPr txBox="1"/>
          <p:nvPr/>
        </p:nvSpPr>
        <p:spPr>
          <a:xfrm>
            <a:off x="6337465" y="3363858"/>
            <a:ext cx="5708072" cy="2247424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CA" b="1"/>
              <a:t>Future Works: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Combine Fault detection and RL controller to have an agent that prevent faults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RL-Assisted MPC which improve MPC performance by adjusting MPC and model parameters during the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RL behavioral cloning and compare to pre-training</a:t>
            </a:r>
          </a:p>
        </p:txBody>
      </p:sp>
    </p:spTree>
    <p:extLst>
      <p:ext uri="{BB962C8B-B14F-4D97-AF65-F5344CB8AC3E}">
        <p14:creationId xmlns:p14="http://schemas.microsoft.com/office/powerpoint/2010/main" val="1525091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855</Words>
  <Application>Microsoft Office PowerPoint</Application>
  <PresentationFormat>Widescreen</PresentationFormat>
  <Paragraphs>151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Arial</vt:lpstr>
      <vt:lpstr>Calibri</vt:lpstr>
      <vt:lpstr>Calibri Light</vt:lpstr>
      <vt:lpstr>Cambria Math</vt:lpstr>
      <vt:lpstr>Segoe UI</vt:lpstr>
      <vt:lpstr>Office Theme</vt:lpstr>
      <vt:lpstr>Hybrid Approach for Control and Fault Detection for Large Scale systems</vt:lpstr>
      <vt:lpstr>PowerPoint Presentation</vt:lpstr>
      <vt:lpstr>Safe RL Control Implementation</vt:lpstr>
      <vt:lpstr>Proposed RL agent controller Results for Polymer Reactor</vt:lpstr>
      <vt:lpstr>Fault Detection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Data-driven based Fault Detection and Diagnosis (FDD)</dc:title>
  <dc:creator>Amir Hossein Hamedi</dc:creator>
  <cp:lastModifiedBy>Amir Hossein Hamedi</cp:lastModifiedBy>
  <cp:revision>1</cp:revision>
  <dcterms:created xsi:type="dcterms:W3CDTF">2023-04-27T05:32:34Z</dcterms:created>
  <dcterms:modified xsi:type="dcterms:W3CDTF">2025-05-08T16:51:52Z</dcterms:modified>
</cp:coreProperties>
</file>